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Montserrat Bold" charset="1" panose="00000800000000000000"/>
      <p:regular r:id="rId12"/>
    </p:embeddedFont>
    <p:embeddedFont>
      <p:font typeface="Inter" charset="1" panose="02000503000000020004"/>
      <p:regular r:id="rId13"/>
    </p:embeddedFont>
    <p:embeddedFont>
      <p:font typeface="Inter Bold" charset="1" panose="02000503000000020004"/>
      <p:regular r:id="rId14"/>
    </p:embeddedFont>
    <p:embeddedFont>
      <p:font typeface="Canva Sans" charset="1" panose="020B05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5641897" cy="10287000"/>
            <a:chOff x="0" y="0"/>
            <a:chExt cx="4119676" cy="2709333"/>
          </a:xfrm>
        </p:grpSpPr>
        <p:sp>
          <p:nvSpPr>
            <p:cNvPr name="Freeform 3" id="3"/>
            <p:cNvSpPr/>
            <p:nvPr/>
          </p:nvSpPr>
          <p:spPr>
            <a:xfrm flipH="false" flipV="false" rot="0">
              <a:off x="0" y="0"/>
              <a:ext cx="4119676" cy="2709333"/>
            </a:xfrm>
            <a:custGeom>
              <a:avLst/>
              <a:gdLst/>
              <a:ahLst/>
              <a:cxnLst/>
              <a:rect r="r" b="b" t="t" l="l"/>
              <a:pathLst>
                <a:path h="2709333" w="4119676">
                  <a:moveTo>
                    <a:pt x="0" y="0"/>
                  </a:moveTo>
                  <a:lnTo>
                    <a:pt x="4119676" y="0"/>
                  </a:lnTo>
                  <a:lnTo>
                    <a:pt x="4119676" y="2709333"/>
                  </a:lnTo>
                  <a:lnTo>
                    <a:pt x="0" y="2709333"/>
                  </a:lnTo>
                  <a:close/>
                </a:path>
              </a:pathLst>
            </a:custGeom>
            <a:solidFill>
              <a:srgbClr val="3B82F6"/>
            </a:solidFill>
          </p:spPr>
        </p:sp>
        <p:sp>
          <p:nvSpPr>
            <p:cNvPr name="TextBox 4" id="4"/>
            <p:cNvSpPr txBox="true"/>
            <p:nvPr/>
          </p:nvSpPr>
          <p:spPr>
            <a:xfrm>
              <a:off x="0" y="-38100"/>
              <a:ext cx="4119676"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0" y="0"/>
            <a:ext cx="348076" cy="10287000"/>
            <a:chOff x="0" y="0"/>
            <a:chExt cx="91674" cy="2709333"/>
          </a:xfrm>
        </p:grpSpPr>
        <p:sp>
          <p:nvSpPr>
            <p:cNvPr name="Freeform 6" id="6"/>
            <p:cNvSpPr/>
            <p:nvPr/>
          </p:nvSpPr>
          <p:spPr>
            <a:xfrm flipH="false" flipV="false" rot="0">
              <a:off x="0" y="0"/>
              <a:ext cx="91674" cy="2709333"/>
            </a:xfrm>
            <a:custGeom>
              <a:avLst/>
              <a:gdLst/>
              <a:ahLst/>
              <a:cxnLst/>
              <a:rect r="r" b="b" t="t" l="l"/>
              <a:pathLst>
                <a:path h="2709333" w="91674">
                  <a:moveTo>
                    <a:pt x="0" y="0"/>
                  </a:moveTo>
                  <a:lnTo>
                    <a:pt x="91674" y="0"/>
                  </a:lnTo>
                  <a:lnTo>
                    <a:pt x="91674" y="2709333"/>
                  </a:lnTo>
                  <a:lnTo>
                    <a:pt x="0" y="2709333"/>
                  </a:lnTo>
                  <a:close/>
                </a:path>
              </a:pathLst>
            </a:custGeom>
            <a:solidFill>
              <a:srgbClr val="1F3A5F"/>
            </a:solidFill>
          </p:spPr>
        </p:sp>
        <p:sp>
          <p:nvSpPr>
            <p:cNvPr name="TextBox 7" id="7"/>
            <p:cNvSpPr txBox="true"/>
            <p:nvPr/>
          </p:nvSpPr>
          <p:spPr>
            <a:xfrm>
              <a:off x="0" y="-38100"/>
              <a:ext cx="91674"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55587" y="4849218"/>
            <a:ext cx="1154493" cy="5885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1F3A5F"/>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5400000">
            <a:off x="14770368" y="4969500"/>
            <a:ext cx="1154493" cy="588565"/>
            <a:chOff x="0" y="0"/>
            <a:chExt cx="647700" cy="330200"/>
          </a:xfrm>
        </p:grpSpPr>
        <p:sp>
          <p:nvSpPr>
            <p:cNvPr name="Freeform 12" id="12"/>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F8FAFC"/>
            </a:solidFill>
          </p:spPr>
        </p:sp>
        <p:sp>
          <p:nvSpPr>
            <p:cNvPr name="TextBox 13" id="13"/>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sp>
        <p:nvSpPr>
          <p:cNvPr name="Freeform 14" id="14"/>
          <p:cNvSpPr/>
          <p:nvPr/>
        </p:nvSpPr>
        <p:spPr>
          <a:xfrm flipH="false" flipV="false" rot="0">
            <a:off x="2144410" y="914800"/>
            <a:ext cx="1041753" cy="710286"/>
          </a:xfrm>
          <a:custGeom>
            <a:avLst/>
            <a:gdLst/>
            <a:ahLst/>
            <a:cxnLst/>
            <a:rect r="r" b="b" t="t" l="l"/>
            <a:pathLst>
              <a:path h="710286" w="1041753">
                <a:moveTo>
                  <a:pt x="0" y="0"/>
                </a:moveTo>
                <a:lnTo>
                  <a:pt x="1041752" y="0"/>
                </a:lnTo>
                <a:lnTo>
                  <a:pt x="1041752" y="710286"/>
                </a:lnTo>
                <a:lnTo>
                  <a:pt x="0" y="710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0118373" y="8810623"/>
            <a:ext cx="447677" cy="447677"/>
          </a:xfrm>
          <a:custGeom>
            <a:avLst/>
            <a:gdLst/>
            <a:ahLst/>
            <a:cxnLst/>
            <a:rect r="r" b="b" t="t" l="l"/>
            <a:pathLst>
              <a:path h="447677" w="447677">
                <a:moveTo>
                  <a:pt x="0" y="0"/>
                </a:moveTo>
                <a:lnTo>
                  <a:pt x="447677" y="0"/>
                </a:lnTo>
                <a:lnTo>
                  <a:pt x="447677" y="447677"/>
                </a:lnTo>
                <a:lnTo>
                  <a:pt x="0" y="447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9479585" y="2560289"/>
            <a:ext cx="5186009" cy="4284940"/>
          </a:xfrm>
          <a:custGeom>
            <a:avLst/>
            <a:gdLst/>
            <a:ahLst/>
            <a:cxnLst/>
            <a:rect r="r" b="b" t="t" l="l"/>
            <a:pathLst>
              <a:path h="4284940" w="5186009">
                <a:moveTo>
                  <a:pt x="0" y="0"/>
                </a:moveTo>
                <a:lnTo>
                  <a:pt x="5186009" y="0"/>
                </a:lnTo>
                <a:lnTo>
                  <a:pt x="5186009" y="4284940"/>
                </a:lnTo>
                <a:lnTo>
                  <a:pt x="0" y="4284940"/>
                </a:lnTo>
                <a:lnTo>
                  <a:pt x="0" y="0"/>
                </a:lnTo>
                <a:close/>
              </a:path>
            </a:pathLst>
          </a:custGeom>
          <a:blipFill>
            <a:blip r:embed="rId6"/>
            <a:stretch>
              <a:fillRect l="0" t="0" r="0" b="0"/>
            </a:stretch>
          </a:blipFill>
        </p:spPr>
      </p:sp>
      <p:sp>
        <p:nvSpPr>
          <p:cNvPr name="TextBox 17" id="17"/>
          <p:cNvSpPr txBox="true"/>
          <p:nvPr/>
        </p:nvSpPr>
        <p:spPr>
          <a:xfrm rot="0">
            <a:off x="2144410" y="3611134"/>
            <a:ext cx="6191195" cy="955119"/>
          </a:xfrm>
          <a:prstGeom prst="rect">
            <a:avLst/>
          </a:prstGeom>
        </p:spPr>
        <p:txBody>
          <a:bodyPr anchor="t" rtlCol="false" tIns="0" lIns="0" bIns="0" rIns="0">
            <a:spAutoFit/>
          </a:bodyPr>
          <a:lstStyle/>
          <a:p>
            <a:pPr algn="l" marL="0" indent="0" lvl="0">
              <a:lnSpc>
                <a:spcPts val="7730"/>
              </a:lnSpc>
            </a:pPr>
            <a:r>
              <a:rPr lang="en-US" b="true" sz="5521">
                <a:solidFill>
                  <a:srgbClr val="F8FAFC"/>
                </a:solidFill>
                <a:latin typeface="Montserrat Bold"/>
                <a:ea typeface="Montserrat Bold"/>
                <a:cs typeface="Montserrat Bold"/>
                <a:sym typeface="Montserrat Bold"/>
              </a:rPr>
              <a:t>Sales &amp;</a:t>
            </a:r>
          </a:p>
        </p:txBody>
      </p:sp>
      <p:sp>
        <p:nvSpPr>
          <p:cNvPr name="TextBox 18" id="18"/>
          <p:cNvSpPr txBox="true"/>
          <p:nvPr/>
        </p:nvSpPr>
        <p:spPr>
          <a:xfrm rot="0">
            <a:off x="2177997" y="4557599"/>
            <a:ext cx="7564707" cy="1936194"/>
          </a:xfrm>
          <a:prstGeom prst="rect">
            <a:avLst/>
          </a:prstGeom>
        </p:spPr>
        <p:txBody>
          <a:bodyPr anchor="t" rtlCol="false" tIns="0" lIns="0" bIns="0" rIns="0">
            <a:spAutoFit/>
          </a:bodyPr>
          <a:lstStyle/>
          <a:p>
            <a:pPr algn="l" marL="0" indent="0" lvl="0">
              <a:lnSpc>
                <a:spcPts val="7730"/>
              </a:lnSpc>
            </a:pPr>
            <a:r>
              <a:rPr lang="en-US" b="true" sz="5521">
                <a:solidFill>
                  <a:srgbClr val="F8FAFC"/>
                </a:solidFill>
                <a:latin typeface="Montserrat Bold"/>
                <a:ea typeface="Montserrat Bold"/>
                <a:cs typeface="Montserrat Bold"/>
                <a:sym typeface="Montserrat Bold"/>
              </a:rPr>
              <a:t>Financial</a:t>
            </a:r>
          </a:p>
          <a:p>
            <a:pPr algn="l" marL="0" indent="0" lvl="0">
              <a:lnSpc>
                <a:spcPts val="7730"/>
              </a:lnSpc>
            </a:pPr>
            <a:r>
              <a:rPr lang="en-US" b="true" sz="5521">
                <a:solidFill>
                  <a:srgbClr val="F8FAFC"/>
                </a:solidFill>
                <a:latin typeface="Montserrat Bold"/>
                <a:ea typeface="Montserrat Bold"/>
                <a:cs typeface="Montserrat Bold"/>
                <a:sym typeface="Montserrat Bold"/>
              </a:rPr>
              <a:t>Dashboard</a:t>
            </a:r>
          </a:p>
        </p:txBody>
      </p:sp>
      <p:sp>
        <p:nvSpPr>
          <p:cNvPr name="TextBox 19" id="19"/>
          <p:cNvSpPr txBox="true"/>
          <p:nvPr/>
        </p:nvSpPr>
        <p:spPr>
          <a:xfrm rot="0">
            <a:off x="2257221" y="8836062"/>
            <a:ext cx="2201309" cy="374144"/>
          </a:xfrm>
          <a:prstGeom prst="rect">
            <a:avLst/>
          </a:prstGeom>
        </p:spPr>
        <p:txBody>
          <a:bodyPr anchor="t" rtlCol="false" tIns="0" lIns="0" bIns="0" rIns="0">
            <a:spAutoFit/>
          </a:bodyPr>
          <a:lstStyle/>
          <a:p>
            <a:pPr algn="l" marL="0" indent="0" lvl="0">
              <a:lnSpc>
                <a:spcPts val="3002"/>
              </a:lnSpc>
              <a:spcBef>
                <a:spcPct val="0"/>
              </a:spcBef>
            </a:pPr>
            <a:r>
              <a:rPr lang="en-US" sz="2144">
                <a:solidFill>
                  <a:srgbClr val="F8FAFC"/>
                </a:solidFill>
                <a:latin typeface="Inter"/>
                <a:ea typeface="Inter"/>
                <a:cs typeface="Inter"/>
                <a:sym typeface="Inter"/>
              </a:rPr>
              <a:t>Presented by:</a:t>
            </a:r>
          </a:p>
        </p:txBody>
      </p:sp>
      <p:sp>
        <p:nvSpPr>
          <p:cNvPr name="TextBox 20" id="20"/>
          <p:cNvSpPr txBox="true"/>
          <p:nvPr/>
        </p:nvSpPr>
        <p:spPr>
          <a:xfrm rot="0">
            <a:off x="2257221" y="6787742"/>
            <a:ext cx="6810863" cy="374144"/>
          </a:xfrm>
          <a:prstGeom prst="rect">
            <a:avLst/>
          </a:prstGeom>
        </p:spPr>
        <p:txBody>
          <a:bodyPr anchor="t" rtlCol="false" tIns="0" lIns="0" bIns="0" rIns="0">
            <a:spAutoFit/>
          </a:bodyPr>
          <a:lstStyle/>
          <a:p>
            <a:pPr algn="l" marL="0" indent="0" lvl="0">
              <a:lnSpc>
                <a:spcPts val="3002"/>
              </a:lnSpc>
              <a:spcBef>
                <a:spcPct val="0"/>
              </a:spcBef>
            </a:pPr>
            <a:r>
              <a:rPr lang="en-US" sz="2144">
                <a:solidFill>
                  <a:srgbClr val="F8FAFC"/>
                </a:solidFill>
                <a:latin typeface="Inter"/>
                <a:ea typeface="Inter"/>
                <a:cs typeface="Inter"/>
                <a:sym typeface="Inter"/>
              </a:rPr>
              <a:t>Data Analytics Internship Project | Elevate Labs</a:t>
            </a:r>
          </a:p>
        </p:txBody>
      </p:sp>
      <p:sp>
        <p:nvSpPr>
          <p:cNvPr name="TextBox 21" id="21"/>
          <p:cNvSpPr txBox="true"/>
          <p:nvPr/>
        </p:nvSpPr>
        <p:spPr>
          <a:xfrm rot="0">
            <a:off x="4048021" y="8841796"/>
            <a:ext cx="3229263" cy="347231"/>
          </a:xfrm>
          <a:prstGeom prst="rect">
            <a:avLst/>
          </a:prstGeom>
        </p:spPr>
        <p:txBody>
          <a:bodyPr anchor="t" rtlCol="false" tIns="0" lIns="0" bIns="0" rIns="0">
            <a:spAutoFit/>
          </a:bodyPr>
          <a:lstStyle/>
          <a:p>
            <a:pPr algn="l" marL="0" indent="0" lvl="0">
              <a:lnSpc>
                <a:spcPts val="2911"/>
              </a:lnSpc>
            </a:pPr>
            <a:r>
              <a:rPr lang="en-US" b="true" sz="2079">
                <a:solidFill>
                  <a:srgbClr val="F8FAFC"/>
                </a:solidFill>
                <a:latin typeface="Inter Bold"/>
                <a:ea typeface="Inter Bold"/>
                <a:cs typeface="Inter Bold"/>
                <a:sym typeface="Inter Bold"/>
              </a:rPr>
              <a:t>Iram Qureshi</a:t>
            </a:r>
          </a:p>
        </p:txBody>
      </p:sp>
      <p:sp>
        <p:nvSpPr>
          <p:cNvPr name="TextBox 22" id="22"/>
          <p:cNvSpPr txBox="true"/>
          <p:nvPr/>
        </p:nvSpPr>
        <p:spPr>
          <a:xfrm rot="0">
            <a:off x="10766522" y="8912505"/>
            <a:ext cx="4448356" cy="297701"/>
          </a:xfrm>
          <a:prstGeom prst="rect">
            <a:avLst/>
          </a:prstGeom>
        </p:spPr>
        <p:txBody>
          <a:bodyPr anchor="t" rtlCol="false" tIns="0" lIns="0" bIns="0" rIns="0">
            <a:spAutoFit/>
          </a:bodyPr>
          <a:lstStyle/>
          <a:p>
            <a:pPr algn="l" marL="0" indent="0" lvl="0">
              <a:lnSpc>
                <a:spcPts val="2491"/>
              </a:lnSpc>
            </a:pPr>
            <a:r>
              <a:rPr lang="en-US" b="true" sz="1779">
                <a:solidFill>
                  <a:srgbClr val="F8FAFC"/>
                </a:solidFill>
                <a:latin typeface="Inter Bold"/>
                <a:ea typeface="Inter Bold"/>
                <a:cs typeface="Inter Bold"/>
                <a:sym typeface="Inter Bold"/>
              </a:rPr>
              <a:t>Microsoft Power BI | </a:t>
            </a:r>
            <a:r>
              <a:rPr lang="en-US" b="true" sz="1779">
                <a:solidFill>
                  <a:srgbClr val="F8FAFC"/>
                </a:solidFill>
                <a:latin typeface="Inter Bold"/>
                <a:ea typeface="Inter Bold"/>
                <a:cs typeface="Inter Bold"/>
                <a:sym typeface="Inter Bold"/>
              </a:rPr>
              <a:t>Superstore Dataset</a:t>
            </a:r>
          </a:p>
        </p:txBody>
      </p:sp>
      <p:sp>
        <p:nvSpPr>
          <p:cNvPr name="TextBox 23" id="23"/>
          <p:cNvSpPr txBox="true"/>
          <p:nvPr/>
        </p:nvSpPr>
        <p:spPr>
          <a:xfrm rot="0">
            <a:off x="3433792" y="1212373"/>
            <a:ext cx="3229263" cy="347231"/>
          </a:xfrm>
          <a:prstGeom prst="rect">
            <a:avLst/>
          </a:prstGeom>
        </p:spPr>
        <p:txBody>
          <a:bodyPr anchor="t" rtlCol="false" tIns="0" lIns="0" bIns="0" rIns="0">
            <a:spAutoFit/>
          </a:bodyPr>
          <a:lstStyle/>
          <a:p>
            <a:pPr algn="l" marL="0" indent="0" lvl="0">
              <a:lnSpc>
                <a:spcPts val="2911"/>
              </a:lnSpc>
            </a:pPr>
            <a:r>
              <a:rPr lang="en-US" b="true" sz="2079">
                <a:solidFill>
                  <a:srgbClr val="F8FAFC"/>
                </a:solidFill>
                <a:latin typeface="Inter Bold"/>
                <a:ea typeface="Inter Bold"/>
                <a:cs typeface="Inter Bold"/>
                <a:sym typeface="Inter Bold"/>
              </a:rPr>
              <a:t>Data Analytics Internship</a:t>
            </a:r>
          </a:p>
        </p:txBody>
      </p:sp>
      <p:sp>
        <p:nvSpPr>
          <p:cNvPr name="TextBox 24" id="24"/>
          <p:cNvSpPr txBox="true"/>
          <p:nvPr/>
        </p:nvSpPr>
        <p:spPr>
          <a:xfrm rot="0">
            <a:off x="16028080" y="1044536"/>
            <a:ext cx="1231220" cy="347231"/>
          </a:xfrm>
          <a:prstGeom prst="rect">
            <a:avLst/>
          </a:prstGeom>
        </p:spPr>
        <p:txBody>
          <a:bodyPr anchor="t" rtlCol="false" tIns="0" lIns="0" bIns="0" rIns="0">
            <a:spAutoFit/>
          </a:bodyPr>
          <a:lstStyle/>
          <a:p>
            <a:pPr algn="r" marL="0" indent="0" lvl="0">
              <a:lnSpc>
                <a:spcPts val="2911"/>
              </a:lnSpc>
            </a:pPr>
            <a:r>
              <a:rPr lang="en-US" b="true" sz="2079">
                <a:solidFill>
                  <a:srgbClr val="282828"/>
                </a:solidFill>
                <a:latin typeface="Inter Bold"/>
                <a:ea typeface="Inter Bold"/>
                <a:cs typeface="Inter Bold"/>
                <a:sym typeface="Inter Bold"/>
              </a:rPr>
              <a:t>2024</a:t>
            </a:r>
          </a:p>
        </p:txBody>
      </p:sp>
      <p:sp>
        <p:nvSpPr>
          <p:cNvPr name="TextBox 25" id="25"/>
          <p:cNvSpPr txBox="true"/>
          <p:nvPr/>
        </p:nvSpPr>
        <p:spPr>
          <a:xfrm rot="0">
            <a:off x="16028080" y="8845587"/>
            <a:ext cx="1231220" cy="347231"/>
          </a:xfrm>
          <a:prstGeom prst="rect">
            <a:avLst/>
          </a:prstGeom>
        </p:spPr>
        <p:txBody>
          <a:bodyPr anchor="t" rtlCol="false" tIns="0" lIns="0" bIns="0" rIns="0">
            <a:spAutoFit/>
          </a:bodyPr>
          <a:lstStyle/>
          <a:p>
            <a:pPr algn="r" marL="0" indent="0" lvl="0">
              <a:lnSpc>
                <a:spcPts val="2911"/>
              </a:lnSpc>
            </a:pPr>
            <a:r>
              <a:rPr lang="en-US" b="true" sz="2079">
                <a:solidFill>
                  <a:srgbClr val="282828"/>
                </a:solidFill>
                <a:latin typeface="Inter Bold"/>
                <a:ea typeface="Inter Bold"/>
                <a:cs typeface="Inter Bold"/>
                <a:sym typeface="Inter Bold"/>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grpSp>
        <p:nvGrpSpPr>
          <p:cNvPr name="Group 2" id="2"/>
          <p:cNvGrpSpPr/>
          <p:nvPr/>
        </p:nvGrpSpPr>
        <p:grpSpPr>
          <a:xfrm rot="0">
            <a:off x="0" y="0"/>
            <a:ext cx="15641897" cy="10287000"/>
            <a:chOff x="0" y="0"/>
            <a:chExt cx="4119676" cy="2709333"/>
          </a:xfrm>
        </p:grpSpPr>
        <p:sp>
          <p:nvSpPr>
            <p:cNvPr name="Freeform 3" id="3"/>
            <p:cNvSpPr/>
            <p:nvPr/>
          </p:nvSpPr>
          <p:spPr>
            <a:xfrm flipH="false" flipV="false" rot="0">
              <a:off x="0" y="0"/>
              <a:ext cx="4119676" cy="2709333"/>
            </a:xfrm>
            <a:custGeom>
              <a:avLst/>
              <a:gdLst/>
              <a:ahLst/>
              <a:cxnLst/>
              <a:rect r="r" b="b" t="t" l="l"/>
              <a:pathLst>
                <a:path h="2709333" w="4119676">
                  <a:moveTo>
                    <a:pt x="0" y="0"/>
                  </a:moveTo>
                  <a:lnTo>
                    <a:pt x="4119676" y="0"/>
                  </a:lnTo>
                  <a:lnTo>
                    <a:pt x="4119676" y="2709333"/>
                  </a:lnTo>
                  <a:lnTo>
                    <a:pt x="0" y="2709333"/>
                  </a:lnTo>
                  <a:close/>
                </a:path>
              </a:pathLst>
            </a:custGeom>
            <a:solidFill>
              <a:srgbClr val="F8FAFC"/>
            </a:solidFill>
          </p:spPr>
        </p:sp>
        <p:sp>
          <p:nvSpPr>
            <p:cNvPr name="TextBox 4" id="4"/>
            <p:cNvSpPr txBox="true"/>
            <p:nvPr/>
          </p:nvSpPr>
          <p:spPr>
            <a:xfrm>
              <a:off x="0" y="-38100"/>
              <a:ext cx="4119676"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0" y="0"/>
            <a:ext cx="348076" cy="10287000"/>
            <a:chOff x="0" y="0"/>
            <a:chExt cx="91674" cy="2709333"/>
          </a:xfrm>
        </p:grpSpPr>
        <p:sp>
          <p:nvSpPr>
            <p:cNvPr name="Freeform 6" id="6"/>
            <p:cNvSpPr/>
            <p:nvPr/>
          </p:nvSpPr>
          <p:spPr>
            <a:xfrm flipH="false" flipV="false" rot="0">
              <a:off x="0" y="0"/>
              <a:ext cx="91674" cy="2709333"/>
            </a:xfrm>
            <a:custGeom>
              <a:avLst/>
              <a:gdLst/>
              <a:ahLst/>
              <a:cxnLst/>
              <a:rect r="r" b="b" t="t" l="l"/>
              <a:pathLst>
                <a:path h="2709333" w="91674">
                  <a:moveTo>
                    <a:pt x="0" y="0"/>
                  </a:moveTo>
                  <a:lnTo>
                    <a:pt x="91674" y="0"/>
                  </a:lnTo>
                  <a:lnTo>
                    <a:pt x="91674" y="2709333"/>
                  </a:lnTo>
                  <a:lnTo>
                    <a:pt x="0" y="2709333"/>
                  </a:lnTo>
                  <a:close/>
                </a:path>
              </a:pathLst>
            </a:custGeom>
            <a:solidFill>
              <a:srgbClr val="1F3A5F"/>
            </a:solidFill>
          </p:spPr>
        </p:sp>
        <p:sp>
          <p:nvSpPr>
            <p:cNvPr name="TextBox 7" id="7"/>
            <p:cNvSpPr txBox="true"/>
            <p:nvPr/>
          </p:nvSpPr>
          <p:spPr>
            <a:xfrm>
              <a:off x="0" y="-38100"/>
              <a:ext cx="91674"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14770368" y="4969500"/>
            <a:ext cx="1154493" cy="5885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3B82F6"/>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sp>
        <p:nvSpPr>
          <p:cNvPr name="AutoShape 11" id="11"/>
          <p:cNvSpPr/>
          <p:nvPr/>
        </p:nvSpPr>
        <p:spPr>
          <a:xfrm flipH="true">
            <a:off x="1047750" y="4234640"/>
            <a:ext cx="0" cy="5023660"/>
          </a:xfrm>
          <a:prstGeom prst="line">
            <a:avLst/>
          </a:prstGeom>
          <a:ln cap="flat" w="38100">
            <a:solidFill>
              <a:srgbClr val="1F3A5F"/>
            </a:solidFill>
            <a:prstDash val="solid"/>
            <a:headEnd type="none" len="sm" w="sm"/>
            <a:tailEnd type="none" len="sm" w="sm"/>
          </a:ln>
        </p:spPr>
      </p:sp>
      <p:sp>
        <p:nvSpPr>
          <p:cNvPr name="AutoShape 12" id="12"/>
          <p:cNvSpPr/>
          <p:nvPr/>
        </p:nvSpPr>
        <p:spPr>
          <a:xfrm>
            <a:off x="4204755" y="4234640"/>
            <a:ext cx="0" cy="5023660"/>
          </a:xfrm>
          <a:prstGeom prst="line">
            <a:avLst/>
          </a:prstGeom>
          <a:ln cap="flat" w="38100">
            <a:solidFill>
              <a:srgbClr val="1F3A5F"/>
            </a:solidFill>
            <a:prstDash val="solid"/>
            <a:headEnd type="none" len="sm" w="sm"/>
            <a:tailEnd type="none" len="sm" w="sm"/>
          </a:ln>
        </p:spPr>
      </p:sp>
      <p:sp>
        <p:nvSpPr>
          <p:cNvPr name="AutoShape 13" id="13"/>
          <p:cNvSpPr/>
          <p:nvPr/>
        </p:nvSpPr>
        <p:spPr>
          <a:xfrm>
            <a:off x="7357530" y="4234640"/>
            <a:ext cx="0" cy="5023660"/>
          </a:xfrm>
          <a:prstGeom prst="line">
            <a:avLst/>
          </a:prstGeom>
          <a:ln cap="flat" w="38100">
            <a:solidFill>
              <a:srgbClr val="1F3A5F"/>
            </a:solidFill>
            <a:prstDash val="solid"/>
            <a:headEnd type="none" len="sm" w="sm"/>
            <a:tailEnd type="none" len="sm" w="sm"/>
          </a:ln>
        </p:spPr>
      </p:sp>
      <p:sp>
        <p:nvSpPr>
          <p:cNvPr name="AutoShape 14" id="14"/>
          <p:cNvSpPr/>
          <p:nvPr/>
        </p:nvSpPr>
        <p:spPr>
          <a:xfrm>
            <a:off x="10510305" y="4234640"/>
            <a:ext cx="0" cy="5023660"/>
          </a:xfrm>
          <a:prstGeom prst="line">
            <a:avLst/>
          </a:prstGeom>
          <a:ln cap="flat" w="38100">
            <a:solidFill>
              <a:srgbClr val="1F3A5F"/>
            </a:solidFill>
            <a:prstDash val="solid"/>
            <a:headEnd type="none" len="sm" w="sm"/>
            <a:tailEnd type="none" len="sm" w="sm"/>
          </a:ln>
        </p:spPr>
      </p:sp>
      <p:sp>
        <p:nvSpPr>
          <p:cNvPr name="Freeform 15" id="15"/>
          <p:cNvSpPr/>
          <p:nvPr/>
        </p:nvSpPr>
        <p:spPr>
          <a:xfrm flipH="false" flipV="false" rot="0">
            <a:off x="1271116" y="4546041"/>
            <a:ext cx="1427379" cy="1456509"/>
          </a:xfrm>
          <a:custGeom>
            <a:avLst/>
            <a:gdLst/>
            <a:ahLst/>
            <a:cxnLst/>
            <a:rect r="r" b="b" t="t" l="l"/>
            <a:pathLst>
              <a:path h="1456509" w="1427379">
                <a:moveTo>
                  <a:pt x="0" y="0"/>
                </a:moveTo>
                <a:lnTo>
                  <a:pt x="1427379" y="0"/>
                </a:lnTo>
                <a:lnTo>
                  <a:pt x="1427379" y="1456509"/>
                </a:lnTo>
                <a:lnTo>
                  <a:pt x="0" y="1456509"/>
                </a:lnTo>
                <a:lnTo>
                  <a:pt x="0" y="0"/>
                </a:lnTo>
                <a:close/>
              </a:path>
            </a:pathLst>
          </a:custGeom>
          <a:blipFill>
            <a:blip r:embed="rId2"/>
            <a:stretch>
              <a:fillRect l="0" t="0" r="0" b="0"/>
            </a:stretch>
          </a:blipFill>
        </p:spPr>
      </p:sp>
      <p:sp>
        <p:nvSpPr>
          <p:cNvPr name="Freeform 16" id="16"/>
          <p:cNvSpPr/>
          <p:nvPr/>
        </p:nvSpPr>
        <p:spPr>
          <a:xfrm flipH="false" flipV="false" rot="0">
            <a:off x="4409679" y="4503084"/>
            <a:ext cx="2045590" cy="1621130"/>
          </a:xfrm>
          <a:custGeom>
            <a:avLst/>
            <a:gdLst/>
            <a:ahLst/>
            <a:cxnLst/>
            <a:rect r="r" b="b" t="t" l="l"/>
            <a:pathLst>
              <a:path h="1621130" w="2045590">
                <a:moveTo>
                  <a:pt x="0" y="0"/>
                </a:moveTo>
                <a:lnTo>
                  <a:pt x="2045590" y="0"/>
                </a:lnTo>
                <a:lnTo>
                  <a:pt x="2045590" y="1621130"/>
                </a:lnTo>
                <a:lnTo>
                  <a:pt x="0" y="1621130"/>
                </a:lnTo>
                <a:lnTo>
                  <a:pt x="0" y="0"/>
                </a:lnTo>
                <a:close/>
              </a:path>
            </a:pathLst>
          </a:custGeom>
          <a:blipFill>
            <a:blip r:embed="rId3"/>
            <a:stretch>
              <a:fillRect l="0" t="0" r="0" b="0"/>
            </a:stretch>
          </a:blipFill>
        </p:spPr>
      </p:sp>
      <p:sp>
        <p:nvSpPr>
          <p:cNvPr name="Freeform 17" id="17"/>
          <p:cNvSpPr/>
          <p:nvPr/>
        </p:nvSpPr>
        <p:spPr>
          <a:xfrm flipH="false" flipV="false" rot="0">
            <a:off x="7585525" y="4316138"/>
            <a:ext cx="1564790" cy="2096871"/>
          </a:xfrm>
          <a:custGeom>
            <a:avLst/>
            <a:gdLst/>
            <a:ahLst/>
            <a:cxnLst/>
            <a:rect r="r" b="b" t="t" l="l"/>
            <a:pathLst>
              <a:path h="2096871" w="1564790">
                <a:moveTo>
                  <a:pt x="0" y="0"/>
                </a:moveTo>
                <a:lnTo>
                  <a:pt x="1564790" y="0"/>
                </a:lnTo>
                <a:lnTo>
                  <a:pt x="1564790" y="2096871"/>
                </a:lnTo>
                <a:lnTo>
                  <a:pt x="0" y="2096871"/>
                </a:lnTo>
                <a:lnTo>
                  <a:pt x="0" y="0"/>
                </a:lnTo>
                <a:close/>
              </a:path>
            </a:pathLst>
          </a:custGeom>
          <a:blipFill>
            <a:blip r:embed="rId4"/>
            <a:stretch>
              <a:fillRect l="0" t="0" r="0" b="0"/>
            </a:stretch>
          </a:blipFill>
        </p:spPr>
      </p:sp>
      <p:sp>
        <p:nvSpPr>
          <p:cNvPr name="Freeform 18" id="18"/>
          <p:cNvSpPr/>
          <p:nvPr/>
        </p:nvSpPr>
        <p:spPr>
          <a:xfrm flipH="false" flipV="false" rot="0">
            <a:off x="10837091" y="4350647"/>
            <a:ext cx="1607048" cy="1868717"/>
          </a:xfrm>
          <a:custGeom>
            <a:avLst/>
            <a:gdLst/>
            <a:ahLst/>
            <a:cxnLst/>
            <a:rect r="r" b="b" t="t" l="l"/>
            <a:pathLst>
              <a:path h="1868717" w="1607048">
                <a:moveTo>
                  <a:pt x="0" y="0"/>
                </a:moveTo>
                <a:lnTo>
                  <a:pt x="1607047" y="0"/>
                </a:lnTo>
                <a:lnTo>
                  <a:pt x="1607047" y="1868717"/>
                </a:lnTo>
                <a:lnTo>
                  <a:pt x="0" y="1868717"/>
                </a:lnTo>
                <a:lnTo>
                  <a:pt x="0" y="0"/>
                </a:lnTo>
                <a:close/>
              </a:path>
            </a:pathLst>
          </a:custGeom>
          <a:blipFill>
            <a:blip r:embed="rId5"/>
            <a:stretch>
              <a:fillRect l="0" t="0" r="0" b="0"/>
            </a:stretch>
          </a:blipFill>
        </p:spPr>
      </p:sp>
      <p:grpSp>
        <p:nvGrpSpPr>
          <p:cNvPr name="Group 19" id="19"/>
          <p:cNvGrpSpPr/>
          <p:nvPr/>
        </p:nvGrpSpPr>
        <p:grpSpPr>
          <a:xfrm rot="0">
            <a:off x="1028700" y="1028700"/>
            <a:ext cx="6328830" cy="2647549"/>
            <a:chOff x="0" y="0"/>
            <a:chExt cx="980501" cy="410175"/>
          </a:xfrm>
        </p:grpSpPr>
        <p:sp>
          <p:nvSpPr>
            <p:cNvPr name="Freeform 20" id="20"/>
            <p:cNvSpPr/>
            <p:nvPr/>
          </p:nvSpPr>
          <p:spPr>
            <a:xfrm flipH="false" flipV="false" rot="0">
              <a:off x="0" y="0"/>
              <a:ext cx="980501" cy="410175"/>
            </a:xfrm>
            <a:custGeom>
              <a:avLst/>
              <a:gdLst/>
              <a:ahLst/>
              <a:cxnLst/>
              <a:rect r="r" b="b" t="t" l="l"/>
              <a:pathLst>
                <a:path h="410175" w="980501">
                  <a:moveTo>
                    <a:pt x="28135" y="0"/>
                  </a:moveTo>
                  <a:lnTo>
                    <a:pt x="952366" y="0"/>
                  </a:lnTo>
                  <a:cubicBezTo>
                    <a:pt x="967905" y="0"/>
                    <a:pt x="980501" y="12597"/>
                    <a:pt x="980501" y="28135"/>
                  </a:cubicBezTo>
                  <a:lnTo>
                    <a:pt x="980501" y="382039"/>
                  </a:lnTo>
                  <a:cubicBezTo>
                    <a:pt x="980501" y="389501"/>
                    <a:pt x="977537" y="396658"/>
                    <a:pt x="972261" y="401934"/>
                  </a:cubicBezTo>
                  <a:cubicBezTo>
                    <a:pt x="966984" y="407210"/>
                    <a:pt x="959828" y="410175"/>
                    <a:pt x="952366" y="410175"/>
                  </a:cubicBezTo>
                  <a:lnTo>
                    <a:pt x="28135" y="410175"/>
                  </a:lnTo>
                  <a:cubicBezTo>
                    <a:pt x="20673" y="410175"/>
                    <a:pt x="13517" y="407210"/>
                    <a:pt x="8241" y="401934"/>
                  </a:cubicBezTo>
                  <a:cubicBezTo>
                    <a:pt x="2964" y="396658"/>
                    <a:pt x="0" y="389501"/>
                    <a:pt x="0" y="382039"/>
                  </a:cubicBezTo>
                  <a:lnTo>
                    <a:pt x="0" y="28135"/>
                  </a:lnTo>
                  <a:cubicBezTo>
                    <a:pt x="0" y="12597"/>
                    <a:pt x="12597" y="0"/>
                    <a:pt x="28135" y="0"/>
                  </a:cubicBezTo>
                  <a:close/>
                </a:path>
              </a:pathLst>
            </a:custGeom>
            <a:blipFill>
              <a:blip r:embed="rId6"/>
              <a:stretch>
                <a:fillRect l="0" t="-647" r="0" b="-647"/>
              </a:stretch>
            </a:blipFill>
          </p:spPr>
        </p:sp>
      </p:grpSp>
      <p:sp>
        <p:nvSpPr>
          <p:cNvPr name="Freeform 21" id="21"/>
          <p:cNvSpPr/>
          <p:nvPr/>
        </p:nvSpPr>
        <p:spPr>
          <a:xfrm flipH="false" flipV="false" rot="0">
            <a:off x="1565662" y="4503084"/>
            <a:ext cx="1734217" cy="1734217"/>
          </a:xfrm>
          <a:custGeom>
            <a:avLst/>
            <a:gdLst/>
            <a:ahLst/>
            <a:cxnLst/>
            <a:rect r="r" b="b" t="t" l="l"/>
            <a:pathLst>
              <a:path h="1734217" w="1734217">
                <a:moveTo>
                  <a:pt x="0" y="0"/>
                </a:moveTo>
                <a:lnTo>
                  <a:pt x="1734218" y="0"/>
                </a:lnTo>
                <a:lnTo>
                  <a:pt x="1734218" y="1734217"/>
                </a:lnTo>
                <a:lnTo>
                  <a:pt x="0" y="17342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8089271" y="1023741"/>
            <a:ext cx="6497132" cy="1968950"/>
          </a:xfrm>
          <a:prstGeom prst="rect">
            <a:avLst/>
          </a:prstGeom>
        </p:spPr>
        <p:txBody>
          <a:bodyPr anchor="t" rtlCol="false" tIns="0" lIns="0" bIns="0" rIns="0">
            <a:spAutoFit/>
          </a:bodyPr>
          <a:lstStyle/>
          <a:p>
            <a:pPr algn="l" marL="0" indent="0" lvl="0">
              <a:lnSpc>
                <a:spcPts val="7514"/>
              </a:lnSpc>
            </a:pPr>
            <a:r>
              <a:rPr lang="en-US" b="true" sz="7994">
                <a:solidFill>
                  <a:srgbClr val="1F3A5F"/>
                </a:solidFill>
                <a:latin typeface="Montserrat Bold"/>
                <a:ea typeface="Montserrat Bold"/>
                <a:cs typeface="Montserrat Bold"/>
                <a:sym typeface="Montserrat Bold"/>
              </a:rPr>
              <a:t>Project</a:t>
            </a:r>
          </a:p>
          <a:p>
            <a:pPr algn="l" marL="0" indent="0" lvl="0">
              <a:lnSpc>
                <a:spcPts val="7514"/>
              </a:lnSpc>
            </a:pPr>
            <a:r>
              <a:rPr lang="en-US" b="true" sz="7994">
                <a:solidFill>
                  <a:srgbClr val="1F3A5F"/>
                </a:solidFill>
                <a:latin typeface="Montserrat Bold"/>
                <a:ea typeface="Montserrat Bold"/>
                <a:cs typeface="Montserrat Bold"/>
                <a:sym typeface="Montserrat Bold"/>
              </a:rPr>
              <a:t>Objectives</a:t>
            </a:r>
          </a:p>
        </p:txBody>
      </p:sp>
      <p:sp>
        <p:nvSpPr>
          <p:cNvPr name="TextBox 23" id="23"/>
          <p:cNvSpPr txBox="true"/>
          <p:nvPr/>
        </p:nvSpPr>
        <p:spPr>
          <a:xfrm rot="0">
            <a:off x="1255404" y="7003229"/>
            <a:ext cx="1458097" cy="759956"/>
          </a:xfrm>
          <a:prstGeom prst="rect">
            <a:avLst/>
          </a:prstGeom>
        </p:spPr>
        <p:txBody>
          <a:bodyPr anchor="t" rtlCol="false" tIns="0" lIns="0" bIns="0" rIns="0">
            <a:spAutoFit/>
          </a:bodyPr>
          <a:lstStyle/>
          <a:p>
            <a:pPr algn="l" marL="0" indent="0" lvl="0">
              <a:lnSpc>
                <a:spcPts val="5636"/>
              </a:lnSpc>
            </a:pPr>
            <a:r>
              <a:rPr lang="en-US" b="true" sz="5995">
                <a:solidFill>
                  <a:srgbClr val="1F3A5F"/>
                </a:solidFill>
                <a:latin typeface="Montserrat Bold"/>
                <a:ea typeface="Montserrat Bold"/>
                <a:cs typeface="Montserrat Bold"/>
                <a:sym typeface="Montserrat Bold"/>
              </a:rPr>
              <a:t>01</a:t>
            </a:r>
          </a:p>
        </p:txBody>
      </p:sp>
      <p:sp>
        <p:nvSpPr>
          <p:cNvPr name="TextBox 24" id="24"/>
          <p:cNvSpPr txBox="true"/>
          <p:nvPr/>
        </p:nvSpPr>
        <p:spPr>
          <a:xfrm rot="0">
            <a:off x="4414305" y="7003229"/>
            <a:ext cx="1458097" cy="759956"/>
          </a:xfrm>
          <a:prstGeom prst="rect">
            <a:avLst/>
          </a:prstGeom>
        </p:spPr>
        <p:txBody>
          <a:bodyPr anchor="t" rtlCol="false" tIns="0" lIns="0" bIns="0" rIns="0">
            <a:spAutoFit/>
          </a:bodyPr>
          <a:lstStyle/>
          <a:p>
            <a:pPr algn="l" marL="0" indent="0" lvl="0">
              <a:lnSpc>
                <a:spcPts val="5636"/>
              </a:lnSpc>
            </a:pPr>
            <a:r>
              <a:rPr lang="en-US" b="true" sz="5995">
                <a:solidFill>
                  <a:srgbClr val="1F3A5F"/>
                </a:solidFill>
                <a:latin typeface="Montserrat Bold"/>
                <a:ea typeface="Montserrat Bold"/>
                <a:cs typeface="Montserrat Bold"/>
                <a:sym typeface="Montserrat Bold"/>
              </a:rPr>
              <a:t>02</a:t>
            </a:r>
          </a:p>
        </p:txBody>
      </p:sp>
      <p:sp>
        <p:nvSpPr>
          <p:cNvPr name="TextBox 25" id="25"/>
          <p:cNvSpPr txBox="true"/>
          <p:nvPr/>
        </p:nvSpPr>
        <p:spPr>
          <a:xfrm rot="0">
            <a:off x="7558688" y="7003229"/>
            <a:ext cx="1458097" cy="759956"/>
          </a:xfrm>
          <a:prstGeom prst="rect">
            <a:avLst/>
          </a:prstGeom>
        </p:spPr>
        <p:txBody>
          <a:bodyPr anchor="t" rtlCol="false" tIns="0" lIns="0" bIns="0" rIns="0">
            <a:spAutoFit/>
          </a:bodyPr>
          <a:lstStyle/>
          <a:p>
            <a:pPr algn="l" marL="0" indent="0" lvl="0">
              <a:lnSpc>
                <a:spcPts val="5636"/>
              </a:lnSpc>
            </a:pPr>
            <a:r>
              <a:rPr lang="en-US" b="true" sz="5995">
                <a:solidFill>
                  <a:srgbClr val="1F3A5F"/>
                </a:solidFill>
                <a:latin typeface="Montserrat Bold"/>
                <a:ea typeface="Montserrat Bold"/>
                <a:cs typeface="Montserrat Bold"/>
                <a:sym typeface="Montserrat Bold"/>
              </a:rPr>
              <a:t>03</a:t>
            </a:r>
          </a:p>
        </p:txBody>
      </p:sp>
      <p:sp>
        <p:nvSpPr>
          <p:cNvPr name="TextBox 26" id="26"/>
          <p:cNvSpPr txBox="true"/>
          <p:nvPr/>
        </p:nvSpPr>
        <p:spPr>
          <a:xfrm rot="0">
            <a:off x="10738905" y="7003229"/>
            <a:ext cx="1458097" cy="759956"/>
          </a:xfrm>
          <a:prstGeom prst="rect">
            <a:avLst/>
          </a:prstGeom>
        </p:spPr>
        <p:txBody>
          <a:bodyPr anchor="t" rtlCol="false" tIns="0" lIns="0" bIns="0" rIns="0">
            <a:spAutoFit/>
          </a:bodyPr>
          <a:lstStyle/>
          <a:p>
            <a:pPr algn="l" marL="0" indent="0" lvl="0">
              <a:lnSpc>
                <a:spcPts val="5636"/>
              </a:lnSpc>
            </a:pPr>
            <a:r>
              <a:rPr lang="en-US" b="true" sz="5995">
                <a:solidFill>
                  <a:srgbClr val="1F3A5F"/>
                </a:solidFill>
                <a:latin typeface="Montserrat Bold"/>
                <a:ea typeface="Montserrat Bold"/>
                <a:cs typeface="Montserrat Bold"/>
                <a:sym typeface="Montserrat Bold"/>
              </a:rPr>
              <a:t>04</a:t>
            </a:r>
          </a:p>
        </p:txBody>
      </p:sp>
      <p:sp>
        <p:nvSpPr>
          <p:cNvPr name="TextBox 27" id="27"/>
          <p:cNvSpPr txBox="true"/>
          <p:nvPr/>
        </p:nvSpPr>
        <p:spPr>
          <a:xfrm rot="0">
            <a:off x="16028080" y="8845587"/>
            <a:ext cx="1231220" cy="412795"/>
          </a:xfrm>
          <a:prstGeom prst="rect">
            <a:avLst/>
          </a:prstGeom>
        </p:spPr>
        <p:txBody>
          <a:bodyPr anchor="t" rtlCol="false" tIns="0" lIns="0" bIns="0" rIns="0">
            <a:spAutoFit/>
          </a:bodyPr>
          <a:lstStyle/>
          <a:p>
            <a:pPr algn="r" marL="0" indent="0" lvl="0">
              <a:lnSpc>
                <a:spcPts val="3497"/>
              </a:lnSpc>
            </a:pPr>
            <a:r>
              <a:rPr lang="en-US" b="true" sz="2498">
                <a:solidFill>
                  <a:srgbClr val="F8FAFC"/>
                </a:solidFill>
                <a:latin typeface="Inter Bold"/>
                <a:ea typeface="Inter Bold"/>
                <a:cs typeface="Inter Bold"/>
                <a:sym typeface="Inter Bold"/>
              </a:rPr>
              <a:t>02/</a:t>
            </a:r>
          </a:p>
        </p:txBody>
      </p:sp>
      <p:sp>
        <p:nvSpPr>
          <p:cNvPr name="TextBox 28" id="28"/>
          <p:cNvSpPr txBox="true"/>
          <p:nvPr/>
        </p:nvSpPr>
        <p:spPr>
          <a:xfrm rot="0">
            <a:off x="1255404" y="8023336"/>
            <a:ext cx="2743963" cy="701318"/>
          </a:xfrm>
          <a:prstGeom prst="rect">
            <a:avLst/>
          </a:prstGeom>
        </p:spPr>
        <p:txBody>
          <a:bodyPr anchor="t" rtlCol="false" tIns="0" lIns="0" bIns="0" rIns="0">
            <a:spAutoFit/>
          </a:bodyPr>
          <a:lstStyle/>
          <a:p>
            <a:pPr algn="l" marL="0" indent="0" lvl="0">
              <a:lnSpc>
                <a:spcPts val="2819"/>
              </a:lnSpc>
            </a:pPr>
            <a:r>
              <a:rPr lang="en-US" sz="2014">
                <a:solidFill>
                  <a:srgbClr val="282828"/>
                </a:solidFill>
                <a:latin typeface="Inter"/>
                <a:ea typeface="Inter"/>
                <a:cs typeface="Inter"/>
                <a:sym typeface="Inter"/>
              </a:rPr>
              <a:t>Analyze sales trends and patterns over time.</a:t>
            </a:r>
          </a:p>
        </p:txBody>
      </p:sp>
      <p:sp>
        <p:nvSpPr>
          <p:cNvPr name="TextBox 29" id="29"/>
          <p:cNvSpPr txBox="true"/>
          <p:nvPr/>
        </p:nvSpPr>
        <p:spPr>
          <a:xfrm rot="0">
            <a:off x="4410294" y="8023336"/>
            <a:ext cx="2743963" cy="1053743"/>
          </a:xfrm>
          <a:prstGeom prst="rect">
            <a:avLst/>
          </a:prstGeom>
        </p:spPr>
        <p:txBody>
          <a:bodyPr anchor="t" rtlCol="false" tIns="0" lIns="0" bIns="0" rIns="0">
            <a:spAutoFit/>
          </a:bodyPr>
          <a:lstStyle/>
          <a:p>
            <a:pPr algn="l" marL="0" indent="0" lvl="0">
              <a:lnSpc>
                <a:spcPts val="2819"/>
              </a:lnSpc>
            </a:pPr>
            <a:r>
              <a:rPr lang="en-US" sz="2014">
                <a:solidFill>
                  <a:srgbClr val="282828"/>
                </a:solidFill>
                <a:latin typeface="Inter"/>
                <a:ea typeface="Inter"/>
                <a:cs typeface="Inter"/>
                <a:sym typeface="Inter"/>
              </a:rPr>
              <a:t>Monitor Sales,Profit,Quantity And Profit Margin</a:t>
            </a:r>
          </a:p>
        </p:txBody>
      </p:sp>
      <p:sp>
        <p:nvSpPr>
          <p:cNvPr name="TextBox 30" id="30"/>
          <p:cNvSpPr txBox="true"/>
          <p:nvPr/>
        </p:nvSpPr>
        <p:spPr>
          <a:xfrm rot="0">
            <a:off x="7558688" y="8023336"/>
            <a:ext cx="2743963" cy="1406168"/>
          </a:xfrm>
          <a:prstGeom prst="rect">
            <a:avLst/>
          </a:prstGeom>
        </p:spPr>
        <p:txBody>
          <a:bodyPr anchor="t" rtlCol="false" tIns="0" lIns="0" bIns="0" rIns="0">
            <a:spAutoFit/>
          </a:bodyPr>
          <a:lstStyle/>
          <a:p>
            <a:pPr algn="l" marL="0" indent="0" lvl="0">
              <a:lnSpc>
                <a:spcPts val="2819"/>
              </a:lnSpc>
            </a:pPr>
            <a:r>
              <a:rPr lang="en-US" sz="2014">
                <a:solidFill>
                  <a:srgbClr val="282828"/>
                </a:solidFill>
                <a:latin typeface="Inter"/>
                <a:ea typeface="Inter"/>
                <a:cs typeface="Inter"/>
                <a:sym typeface="Inter"/>
              </a:rPr>
              <a:t>Compare perfor,ance across regions,categories, and sub-categories</a:t>
            </a:r>
          </a:p>
        </p:txBody>
      </p:sp>
      <p:sp>
        <p:nvSpPr>
          <p:cNvPr name="TextBox 31" id="31"/>
          <p:cNvSpPr txBox="true"/>
          <p:nvPr/>
        </p:nvSpPr>
        <p:spPr>
          <a:xfrm rot="0">
            <a:off x="10711463" y="8023336"/>
            <a:ext cx="2743963" cy="1406168"/>
          </a:xfrm>
          <a:prstGeom prst="rect">
            <a:avLst/>
          </a:prstGeom>
        </p:spPr>
        <p:txBody>
          <a:bodyPr anchor="t" rtlCol="false" tIns="0" lIns="0" bIns="0" rIns="0">
            <a:spAutoFit/>
          </a:bodyPr>
          <a:lstStyle/>
          <a:p>
            <a:pPr algn="l" marL="0" indent="0" lvl="0">
              <a:lnSpc>
                <a:spcPts val="2819"/>
              </a:lnSpc>
            </a:pPr>
            <a:r>
              <a:rPr lang="en-US" sz="2014">
                <a:solidFill>
                  <a:srgbClr val="282828"/>
                </a:solidFill>
                <a:latin typeface="Inter"/>
                <a:ea typeface="Inter"/>
                <a:cs typeface="Inter"/>
                <a:sym typeface="Inter"/>
              </a:rPr>
              <a:t>Use dashboard insights to support data driven business decisions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grpSp>
        <p:nvGrpSpPr>
          <p:cNvPr name="Group 2" id="2"/>
          <p:cNvGrpSpPr/>
          <p:nvPr/>
        </p:nvGrpSpPr>
        <p:grpSpPr>
          <a:xfrm rot="0">
            <a:off x="0" y="0"/>
            <a:ext cx="15641897" cy="10287000"/>
            <a:chOff x="0" y="0"/>
            <a:chExt cx="4119676" cy="2709333"/>
          </a:xfrm>
        </p:grpSpPr>
        <p:sp>
          <p:nvSpPr>
            <p:cNvPr name="Freeform 3" id="3"/>
            <p:cNvSpPr/>
            <p:nvPr/>
          </p:nvSpPr>
          <p:spPr>
            <a:xfrm flipH="false" flipV="false" rot="0">
              <a:off x="0" y="0"/>
              <a:ext cx="4119676" cy="2709333"/>
            </a:xfrm>
            <a:custGeom>
              <a:avLst/>
              <a:gdLst/>
              <a:ahLst/>
              <a:cxnLst/>
              <a:rect r="r" b="b" t="t" l="l"/>
              <a:pathLst>
                <a:path h="2709333" w="4119676">
                  <a:moveTo>
                    <a:pt x="0" y="0"/>
                  </a:moveTo>
                  <a:lnTo>
                    <a:pt x="4119676" y="0"/>
                  </a:lnTo>
                  <a:lnTo>
                    <a:pt x="4119676" y="2709333"/>
                  </a:lnTo>
                  <a:lnTo>
                    <a:pt x="0" y="2709333"/>
                  </a:lnTo>
                  <a:close/>
                </a:path>
              </a:pathLst>
            </a:custGeom>
            <a:solidFill>
              <a:srgbClr val="F8FAFC"/>
            </a:solidFill>
          </p:spPr>
        </p:sp>
        <p:sp>
          <p:nvSpPr>
            <p:cNvPr name="TextBox 4" id="4"/>
            <p:cNvSpPr txBox="true"/>
            <p:nvPr/>
          </p:nvSpPr>
          <p:spPr>
            <a:xfrm>
              <a:off x="0" y="-38100"/>
              <a:ext cx="4119676"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0" y="0"/>
            <a:ext cx="348076" cy="10287000"/>
            <a:chOff x="0" y="0"/>
            <a:chExt cx="91674" cy="2709333"/>
          </a:xfrm>
        </p:grpSpPr>
        <p:sp>
          <p:nvSpPr>
            <p:cNvPr name="Freeform 6" id="6"/>
            <p:cNvSpPr/>
            <p:nvPr/>
          </p:nvSpPr>
          <p:spPr>
            <a:xfrm flipH="false" flipV="false" rot="0">
              <a:off x="0" y="0"/>
              <a:ext cx="91674" cy="2709333"/>
            </a:xfrm>
            <a:custGeom>
              <a:avLst/>
              <a:gdLst/>
              <a:ahLst/>
              <a:cxnLst/>
              <a:rect r="r" b="b" t="t" l="l"/>
              <a:pathLst>
                <a:path h="2709333" w="91674">
                  <a:moveTo>
                    <a:pt x="0" y="0"/>
                  </a:moveTo>
                  <a:lnTo>
                    <a:pt x="91674" y="0"/>
                  </a:lnTo>
                  <a:lnTo>
                    <a:pt x="91674" y="2709333"/>
                  </a:lnTo>
                  <a:lnTo>
                    <a:pt x="0" y="2709333"/>
                  </a:lnTo>
                  <a:close/>
                </a:path>
              </a:pathLst>
            </a:custGeom>
            <a:solidFill>
              <a:srgbClr val="1F3A5F"/>
            </a:solidFill>
          </p:spPr>
        </p:sp>
        <p:sp>
          <p:nvSpPr>
            <p:cNvPr name="TextBox 7" id="7"/>
            <p:cNvSpPr txBox="true"/>
            <p:nvPr/>
          </p:nvSpPr>
          <p:spPr>
            <a:xfrm>
              <a:off x="0" y="-38100"/>
              <a:ext cx="91674"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14770368" y="4969500"/>
            <a:ext cx="1154493" cy="5885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3B82F6"/>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9144000" y="1028700"/>
            <a:ext cx="5246370" cy="8229600"/>
            <a:chOff x="0" y="0"/>
            <a:chExt cx="812800" cy="1274980"/>
          </a:xfrm>
        </p:grpSpPr>
        <p:sp>
          <p:nvSpPr>
            <p:cNvPr name="Freeform 12" id="12"/>
            <p:cNvSpPr/>
            <p:nvPr/>
          </p:nvSpPr>
          <p:spPr>
            <a:xfrm flipH="false" flipV="false" rot="0">
              <a:off x="0" y="0"/>
              <a:ext cx="812800" cy="1274980"/>
            </a:xfrm>
            <a:custGeom>
              <a:avLst/>
              <a:gdLst/>
              <a:ahLst/>
              <a:cxnLst/>
              <a:rect r="r" b="b" t="t" l="l"/>
              <a:pathLst>
                <a:path h="1274980" w="812800">
                  <a:moveTo>
                    <a:pt x="33940" y="0"/>
                  </a:moveTo>
                  <a:lnTo>
                    <a:pt x="778860" y="0"/>
                  </a:lnTo>
                  <a:cubicBezTo>
                    <a:pt x="797604" y="0"/>
                    <a:pt x="812800" y="15196"/>
                    <a:pt x="812800" y="33940"/>
                  </a:cubicBezTo>
                  <a:lnTo>
                    <a:pt x="812800" y="1241040"/>
                  </a:lnTo>
                  <a:cubicBezTo>
                    <a:pt x="812800" y="1259785"/>
                    <a:pt x="797604" y="1274980"/>
                    <a:pt x="778860" y="1274980"/>
                  </a:cubicBezTo>
                  <a:lnTo>
                    <a:pt x="33940" y="1274980"/>
                  </a:lnTo>
                  <a:cubicBezTo>
                    <a:pt x="15196" y="1274980"/>
                    <a:pt x="0" y="1259785"/>
                    <a:pt x="0" y="1241040"/>
                  </a:cubicBezTo>
                  <a:lnTo>
                    <a:pt x="0" y="33940"/>
                  </a:lnTo>
                  <a:cubicBezTo>
                    <a:pt x="0" y="15196"/>
                    <a:pt x="15196" y="0"/>
                    <a:pt x="33940" y="0"/>
                  </a:cubicBezTo>
                  <a:close/>
                </a:path>
              </a:pathLst>
            </a:custGeom>
            <a:blipFill>
              <a:blip r:embed="rId2"/>
              <a:stretch>
                <a:fillRect l="-294" t="0" r="-294" b="0"/>
              </a:stretch>
            </a:blipFill>
          </p:spPr>
        </p:sp>
      </p:grpSp>
      <p:sp>
        <p:nvSpPr>
          <p:cNvPr name="TextBox 13" id="13"/>
          <p:cNvSpPr txBox="true"/>
          <p:nvPr/>
        </p:nvSpPr>
        <p:spPr>
          <a:xfrm rot="0">
            <a:off x="1028700" y="904875"/>
            <a:ext cx="7749814" cy="1110519"/>
          </a:xfrm>
          <a:prstGeom prst="rect">
            <a:avLst/>
          </a:prstGeom>
        </p:spPr>
        <p:txBody>
          <a:bodyPr anchor="t" rtlCol="false" tIns="0" lIns="0" bIns="0" rIns="0">
            <a:spAutoFit/>
          </a:bodyPr>
          <a:lstStyle/>
          <a:p>
            <a:pPr algn="l" marL="0" indent="0" lvl="0">
              <a:lnSpc>
                <a:spcPts val="9140"/>
              </a:lnSpc>
            </a:pPr>
            <a:r>
              <a:rPr lang="en-US" b="true" sz="6528">
                <a:solidFill>
                  <a:srgbClr val="1F3A5F"/>
                </a:solidFill>
                <a:latin typeface="Montserrat Bold"/>
                <a:ea typeface="Montserrat Bold"/>
                <a:cs typeface="Montserrat Bold"/>
                <a:sym typeface="Montserrat Bold"/>
              </a:rPr>
              <a:t>Dataset Overview</a:t>
            </a:r>
          </a:p>
        </p:txBody>
      </p:sp>
      <p:sp>
        <p:nvSpPr>
          <p:cNvPr name="TextBox 14" id="14"/>
          <p:cNvSpPr txBox="true"/>
          <p:nvPr/>
        </p:nvSpPr>
        <p:spPr>
          <a:xfrm rot="0">
            <a:off x="16028080" y="8845587"/>
            <a:ext cx="1231220" cy="412795"/>
          </a:xfrm>
          <a:prstGeom prst="rect">
            <a:avLst/>
          </a:prstGeom>
        </p:spPr>
        <p:txBody>
          <a:bodyPr anchor="t" rtlCol="false" tIns="0" lIns="0" bIns="0" rIns="0">
            <a:spAutoFit/>
          </a:bodyPr>
          <a:lstStyle/>
          <a:p>
            <a:pPr algn="r" marL="0" indent="0" lvl="0">
              <a:lnSpc>
                <a:spcPts val="3497"/>
              </a:lnSpc>
            </a:pPr>
            <a:r>
              <a:rPr lang="en-US" b="true" sz="2498">
                <a:solidFill>
                  <a:srgbClr val="F8FAFC"/>
                </a:solidFill>
                <a:latin typeface="Inter Bold"/>
                <a:ea typeface="Inter Bold"/>
                <a:cs typeface="Inter Bold"/>
                <a:sym typeface="Inter Bold"/>
              </a:rPr>
              <a:t>03/</a:t>
            </a:r>
          </a:p>
        </p:txBody>
      </p:sp>
      <p:sp>
        <p:nvSpPr>
          <p:cNvPr name="TextBox 15" id="15"/>
          <p:cNvSpPr txBox="true"/>
          <p:nvPr/>
        </p:nvSpPr>
        <p:spPr>
          <a:xfrm rot="0">
            <a:off x="1028700" y="6655023"/>
            <a:ext cx="6928830" cy="2584276"/>
          </a:xfrm>
          <a:prstGeom prst="rect">
            <a:avLst/>
          </a:prstGeom>
        </p:spPr>
        <p:txBody>
          <a:bodyPr anchor="t" rtlCol="false" tIns="0" lIns="0" bIns="0" rIns="0">
            <a:spAutoFit/>
          </a:bodyPr>
          <a:lstStyle/>
          <a:p>
            <a:pPr algn="l" marL="0" indent="0" lvl="0">
              <a:lnSpc>
                <a:spcPts val="2984"/>
              </a:lnSpc>
            </a:pPr>
            <a:r>
              <a:rPr lang="en-US" sz="2131">
                <a:solidFill>
                  <a:srgbClr val="282828"/>
                </a:solidFill>
                <a:latin typeface="Inter"/>
                <a:ea typeface="Inter"/>
                <a:cs typeface="Inter"/>
                <a:sym typeface="Inter"/>
              </a:rPr>
              <a:t>The </a:t>
            </a:r>
            <a:r>
              <a:rPr lang="en-US" sz="2131">
                <a:solidFill>
                  <a:srgbClr val="282828"/>
                </a:solidFill>
                <a:latin typeface="Inter"/>
                <a:ea typeface="Inter"/>
                <a:cs typeface="Inter"/>
                <a:sym typeface="Inter"/>
              </a:rPr>
              <a:t>Superstore Sales Dataset contains retail sales transaction data used to analyze business performance. It includes information about orders, customers, products, regions, sales, profit, quantity, discount, and shipping. The dataset was imported into Microsoft Power BI to create an interactive business dashboard.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grpSp>
        <p:nvGrpSpPr>
          <p:cNvPr name="Group 2" id="2"/>
          <p:cNvGrpSpPr/>
          <p:nvPr/>
        </p:nvGrpSpPr>
        <p:grpSpPr>
          <a:xfrm rot="0">
            <a:off x="0" y="0"/>
            <a:ext cx="15641897" cy="10287000"/>
            <a:chOff x="0" y="0"/>
            <a:chExt cx="4119676" cy="2709333"/>
          </a:xfrm>
        </p:grpSpPr>
        <p:sp>
          <p:nvSpPr>
            <p:cNvPr name="Freeform 3" id="3"/>
            <p:cNvSpPr/>
            <p:nvPr/>
          </p:nvSpPr>
          <p:spPr>
            <a:xfrm flipH="false" flipV="false" rot="0">
              <a:off x="0" y="0"/>
              <a:ext cx="4119676" cy="2709333"/>
            </a:xfrm>
            <a:custGeom>
              <a:avLst/>
              <a:gdLst/>
              <a:ahLst/>
              <a:cxnLst/>
              <a:rect r="r" b="b" t="t" l="l"/>
              <a:pathLst>
                <a:path h="2709333" w="4119676">
                  <a:moveTo>
                    <a:pt x="0" y="0"/>
                  </a:moveTo>
                  <a:lnTo>
                    <a:pt x="4119676" y="0"/>
                  </a:lnTo>
                  <a:lnTo>
                    <a:pt x="4119676" y="2709333"/>
                  </a:lnTo>
                  <a:lnTo>
                    <a:pt x="0" y="2709333"/>
                  </a:lnTo>
                  <a:close/>
                </a:path>
              </a:pathLst>
            </a:custGeom>
            <a:solidFill>
              <a:srgbClr val="F8FAFC"/>
            </a:solidFill>
          </p:spPr>
        </p:sp>
        <p:sp>
          <p:nvSpPr>
            <p:cNvPr name="TextBox 4" id="4"/>
            <p:cNvSpPr txBox="true"/>
            <p:nvPr/>
          </p:nvSpPr>
          <p:spPr>
            <a:xfrm>
              <a:off x="0" y="-38100"/>
              <a:ext cx="4119676"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0" y="0"/>
            <a:ext cx="348076" cy="10287000"/>
            <a:chOff x="0" y="0"/>
            <a:chExt cx="91674" cy="2709333"/>
          </a:xfrm>
        </p:grpSpPr>
        <p:sp>
          <p:nvSpPr>
            <p:cNvPr name="Freeform 6" id="6"/>
            <p:cNvSpPr/>
            <p:nvPr/>
          </p:nvSpPr>
          <p:spPr>
            <a:xfrm flipH="false" flipV="false" rot="0">
              <a:off x="0" y="0"/>
              <a:ext cx="91674" cy="2709333"/>
            </a:xfrm>
            <a:custGeom>
              <a:avLst/>
              <a:gdLst/>
              <a:ahLst/>
              <a:cxnLst/>
              <a:rect r="r" b="b" t="t" l="l"/>
              <a:pathLst>
                <a:path h="2709333" w="91674">
                  <a:moveTo>
                    <a:pt x="0" y="0"/>
                  </a:moveTo>
                  <a:lnTo>
                    <a:pt x="91674" y="0"/>
                  </a:lnTo>
                  <a:lnTo>
                    <a:pt x="91674" y="2709333"/>
                  </a:lnTo>
                  <a:lnTo>
                    <a:pt x="0" y="2709333"/>
                  </a:lnTo>
                  <a:close/>
                </a:path>
              </a:pathLst>
            </a:custGeom>
            <a:solidFill>
              <a:srgbClr val="1F3A5F"/>
            </a:solidFill>
          </p:spPr>
        </p:sp>
        <p:sp>
          <p:nvSpPr>
            <p:cNvPr name="TextBox 7" id="7"/>
            <p:cNvSpPr txBox="true"/>
            <p:nvPr/>
          </p:nvSpPr>
          <p:spPr>
            <a:xfrm>
              <a:off x="0" y="-38100"/>
              <a:ext cx="91674"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14770368" y="4969500"/>
            <a:ext cx="1154493" cy="5885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3B82F6"/>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16028080" y="8845587"/>
            <a:ext cx="1231220" cy="412795"/>
          </a:xfrm>
          <a:prstGeom prst="rect">
            <a:avLst/>
          </a:prstGeom>
        </p:spPr>
        <p:txBody>
          <a:bodyPr anchor="t" rtlCol="false" tIns="0" lIns="0" bIns="0" rIns="0">
            <a:spAutoFit/>
          </a:bodyPr>
          <a:lstStyle/>
          <a:p>
            <a:pPr algn="r" marL="0" indent="0" lvl="0">
              <a:lnSpc>
                <a:spcPts val="3497"/>
              </a:lnSpc>
            </a:pPr>
            <a:r>
              <a:rPr lang="en-US" b="true" sz="2498">
                <a:solidFill>
                  <a:srgbClr val="F8FAFC"/>
                </a:solidFill>
                <a:latin typeface="Inter Bold"/>
                <a:ea typeface="Inter Bold"/>
                <a:cs typeface="Inter Bold"/>
                <a:sym typeface="Inter Bold"/>
              </a:rPr>
              <a:t>04/</a:t>
            </a:r>
          </a:p>
        </p:txBody>
      </p:sp>
      <p:sp>
        <p:nvSpPr>
          <p:cNvPr name="TextBox 12" id="12"/>
          <p:cNvSpPr txBox="true"/>
          <p:nvPr/>
        </p:nvSpPr>
        <p:spPr>
          <a:xfrm rot="0">
            <a:off x="7820948" y="966591"/>
            <a:ext cx="7232383" cy="1550309"/>
          </a:xfrm>
          <a:prstGeom prst="rect">
            <a:avLst/>
          </a:prstGeom>
        </p:spPr>
        <p:txBody>
          <a:bodyPr anchor="t" rtlCol="false" tIns="0" lIns="0" bIns="0" rIns="0">
            <a:spAutoFit/>
          </a:bodyPr>
          <a:lstStyle/>
          <a:p>
            <a:pPr algn="l" marL="0" indent="0" lvl="0">
              <a:lnSpc>
                <a:spcPts val="5900"/>
              </a:lnSpc>
            </a:pPr>
            <a:r>
              <a:rPr lang="en-US" b="true" sz="6277">
                <a:solidFill>
                  <a:srgbClr val="1F3A5F"/>
                </a:solidFill>
                <a:latin typeface="Montserrat Bold"/>
                <a:ea typeface="Montserrat Bold"/>
                <a:cs typeface="Montserrat Bold"/>
                <a:sym typeface="Montserrat Bold"/>
              </a:rPr>
              <a:t>Key Performance Indicators</a:t>
            </a:r>
          </a:p>
        </p:txBody>
      </p:sp>
      <p:sp>
        <p:nvSpPr>
          <p:cNvPr name="TextBox 13" id="13"/>
          <p:cNvSpPr txBox="true"/>
          <p:nvPr/>
        </p:nvSpPr>
        <p:spPr>
          <a:xfrm rot="0">
            <a:off x="7820948" y="6655023"/>
            <a:ext cx="6581503" cy="1795363"/>
          </a:xfrm>
          <a:prstGeom prst="rect">
            <a:avLst/>
          </a:prstGeom>
        </p:spPr>
        <p:txBody>
          <a:bodyPr anchor="t" rtlCol="false" tIns="0" lIns="0" bIns="0" rIns="0">
            <a:spAutoFit/>
          </a:bodyPr>
          <a:lstStyle/>
          <a:p>
            <a:pPr algn="l" marL="0" indent="0" lvl="0">
              <a:lnSpc>
                <a:spcPts val="2892"/>
              </a:lnSpc>
            </a:pPr>
            <a:r>
              <a:rPr lang="en-US" sz="2066">
                <a:solidFill>
                  <a:srgbClr val="282828"/>
                </a:solidFill>
                <a:latin typeface="Inter"/>
                <a:ea typeface="Inter"/>
                <a:cs typeface="Inter"/>
                <a:sym typeface="Inter"/>
              </a:rPr>
              <a:t>Total Sales: 203.55K | Total Profit: 88.34K | Quantity: 5K | Profit Margin: 43.4%</a:t>
            </a:r>
          </a:p>
          <a:p>
            <a:pPr algn="l" marL="0" indent="0" lvl="0">
              <a:lnSpc>
                <a:spcPts val="2892"/>
              </a:lnSpc>
            </a:pPr>
            <a:r>
              <a:rPr lang="en-US" sz="2066">
                <a:solidFill>
                  <a:srgbClr val="282828"/>
                </a:solidFill>
                <a:latin typeface="Inter"/>
                <a:ea typeface="Inter"/>
                <a:cs typeface="Inter"/>
                <a:sym typeface="Inter"/>
              </a:rPr>
              <a:t>These KPIs summarize the overall business performance and help stakeholders evaluate sales, profitability, and product volume.</a:t>
            </a:r>
          </a:p>
        </p:txBody>
      </p:sp>
      <p:pic>
        <p:nvPicPr>
          <p:cNvPr name="Picture 14" id="14"/>
          <p:cNvPicPr>
            <a:picLocks noChangeAspect="true"/>
          </p:cNvPicPr>
          <p:nvPr/>
        </p:nvPicPr>
        <p:blipFill>
          <a:blip r:embed="rId2"/>
          <a:stretch>
            <a:fillRect/>
          </a:stretch>
        </p:blipFill>
        <p:spPr>
          <a:xfrm rot="0">
            <a:off x="-7140" y="381433"/>
            <a:ext cx="7967394" cy="9444052"/>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B82F6"/>
        </a:solidFill>
      </p:bgPr>
    </p:bg>
    <p:spTree>
      <p:nvGrpSpPr>
        <p:cNvPr id="1" name=""/>
        <p:cNvGrpSpPr/>
        <p:nvPr/>
      </p:nvGrpSpPr>
      <p:grpSpPr>
        <a:xfrm>
          <a:off x="0" y="0"/>
          <a:ext cx="0" cy="0"/>
          <a:chOff x="0" y="0"/>
          <a:chExt cx="0" cy="0"/>
        </a:xfrm>
      </p:grpSpPr>
      <p:grpSp>
        <p:nvGrpSpPr>
          <p:cNvPr name="Group 2" id="2"/>
          <p:cNvGrpSpPr/>
          <p:nvPr/>
        </p:nvGrpSpPr>
        <p:grpSpPr>
          <a:xfrm rot="0">
            <a:off x="0" y="0"/>
            <a:ext cx="15641897" cy="10287000"/>
            <a:chOff x="0" y="0"/>
            <a:chExt cx="4119676" cy="2709333"/>
          </a:xfrm>
        </p:grpSpPr>
        <p:sp>
          <p:nvSpPr>
            <p:cNvPr name="Freeform 3" id="3"/>
            <p:cNvSpPr/>
            <p:nvPr/>
          </p:nvSpPr>
          <p:spPr>
            <a:xfrm flipH="false" flipV="false" rot="0">
              <a:off x="0" y="0"/>
              <a:ext cx="4119676" cy="2709333"/>
            </a:xfrm>
            <a:custGeom>
              <a:avLst/>
              <a:gdLst/>
              <a:ahLst/>
              <a:cxnLst/>
              <a:rect r="r" b="b" t="t" l="l"/>
              <a:pathLst>
                <a:path h="2709333" w="4119676">
                  <a:moveTo>
                    <a:pt x="0" y="0"/>
                  </a:moveTo>
                  <a:lnTo>
                    <a:pt x="4119676" y="0"/>
                  </a:lnTo>
                  <a:lnTo>
                    <a:pt x="4119676" y="2709333"/>
                  </a:lnTo>
                  <a:lnTo>
                    <a:pt x="0" y="2709333"/>
                  </a:lnTo>
                  <a:close/>
                </a:path>
              </a:pathLst>
            </a:custGeom>
            <a:solidFill>
              <a:srgbClr val="F8FAFC"/>
            </a:solidFill>
          </p:spPr>
        </p:sp>
        <p:sp>
          <p:nvSpPr>
            <p:cNvPr name="TextBox 4" id="4"/>
            <p:cNvSpPr txBox="true"/>
            <p:nvPr/>
          </p:nvSpPr>
          <p:spPr>
            <a:xfrm>
              <a:off x="0" y="-38100"/>
              <a:ext cx="4119676"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0" y="0"/>
            <a:ext cx="348076" cy="10287000"/>
            <a:chOff x="0" y="0"/>
            <a:chExt cx="91674" cy="2709333"/>
          </a:xfrm>
        </p:grpSpPr>
        <p:sp>
          <p:nvSpPr>
            <p:cNvPr name="Freeform 6" id="6"/>
            <p:cNvSpPr/>
            <p:nvPr/>
          </p:nvSpPr>
          <p:spPr>
            <a:xfrm flipH="false" flipV="false" rot="0">
              <a:off x="0" y="0"/>
              <a:ext cx="91674" cy="2709333"/>
            </a:xfrm>
            <a:custGeom>
              <a:avLst/>
              <a:gdLst/>
              <a:ahLst/>
              <a:cxnLst/>
              <a:rect r="r" b="b" t="t" l="l"/>
              <a:pathLst>
                <a:path h="2709333" w="91674">
                  <a:moveTo>
                    <a:pt x="0" y="0"/>
                  </a:moveTo>
                  <a:lnTo>
                    <a:pt x="91674" y="0"/>
                  </a:lnTo>
                  <a:lnTo>
                    <a:pt x="91674" y="2709333"/>
                  </a:lnTo>
                  <a:lnTo>
                    <a:pt x="0" y="2709333"/>
                  </a:lnTo>
                  <a:close/>
                </a:path>
              </a:pathLst>
            </a:custGeom>
            <a:solidFill>
              <a:srgbClr val="1F3A5F"/>
            </a:solidFill>
          </p:spPr>
        </p:sp>
        <p:sp>
          <p:nvSpPr>
            <p:cNvPr name="TextBox 7" id="7"/>
            <p:cNvSpPr txBox="true"/>
            <p:nvPr/>
          </p:nvSpPr>
          <p:spPr>
            <a:xfrm>
              <a:off x="0" y="-38100"/>
              <a:ext cx="91674"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14770368" y="4969500"/>
            <a:ext cx="1154493" cy="5885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3B82F6"/>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028700" y="1028700"/>
            <a:ext cx="6058823" cy="8229600"/>
            <a:chOff x="0" y="0"/>
            <a:chExt cx="938670" cy="1274980"/>
          </a:xfrm>
        </p:grpSpPr>
        <p:sp>
          <p:nvSpPr>
            <p:cNvPr name="Freeform 12" id="12"/>
            <p:cNvSpPr/>
            <p:nvPr/>
          </p:nvSpPr>
          <p:spPr>
            <a:xfrm flipH="false" flipV="false" rot="0">
              <a:off x="0" y="0"/>
              <a:ext cx="938670" cy="1274980"/>
            </a:xfrm>
            <a:custGeom>
              <a:avLst/>
              <a:gdLst/>
              <a:ahLst/>
              <a:cxnLst/>
              <a:rect r="r" b="b" t="t" l="l"/>
              <a:pathLst>
                <a:path h="1274980" w="938670">
                  <a:moveTo>
                    <a:pt x="29389" y="0"/>
                  </a:moveTo>
                  <a:lnTo>
                    <a:pt x="909281" y="0"/>
                  </a:lnTo>
                  <a:cubicBezTo>
                    <a:pt x="917076" y="0"/>
                    <a:pt x="924551" y="3096"/>
                    <a:pt x="930062" y="8608"/>
                  </a:cubicBezTo>
                  <a:cubicBezTo>
                    <a:pt x="935574" y="14119"/>
                    <a:pt x="938670" y="21595"/>
                    <a:pt x="938670" y="29389"/>
                  </a:cubicBezTo>
                  <a:lnTo>
                    <a:pt x="938670" y="1245591"/>
                  </a:lnTo>
                  <a:cubicBezTo>
                    <a:pt x="938670" y="1253386"/>
                    <a:pt x="935574" y="1260861"/>
                    <a:pt x="930062" y="1266373"/>
                  </a:cubicBezTo>
                  <a:cubicBezTo>
                    <a:pt x="924551" y="1271884"/>
                    <a:pt x="917076" y="1274980"/>
                    <a:pt x="909281" y="1274980"/>
                  </a:cubicBezTo>
                  <a:lnTo>
                    <a:pt x="29389" y="1274980"/>
                  </a:lnTo>
                  <a:cubicBezTo>
                    <a:pt x="21595" y="1274980"/>
                    <a:pt x="14119" y="1271884"/>
                    <a:pt x="8608" y="1266373"/>
                  </a:cubicBezTo>
                  <a:cubicBezTo>
                    <a:pt x="3096" y="1260861"/>
                    <a:pt x="0" y="1253386"/>
                    <a:pt x="0" y="1245591"/>
                  </a:cubicBezTo>
                  <a:lnTo>
                    <a:pt x="0" y="29389"/>
                  </a:lnTo>
                  <a:cubicBezTo>
                    <a:pt x="0" y="21595"/>
                    <a:pt x="3096" y="14119"/>
                    <a:pt x="8608" y="8608"/>
                  </a:cubicBezTo>
                  <a:cubicBezTo>
                    <a:pt x="14119" y="3096"/>
                    <a:pt x="21595" y="0"/>
                    <a:pt x="29389" y="0"/>
                  </a:cubicBezTo>
                  <a:close/>
                </a:path>
              </a:pathLst>
            </a:custGeom>
            <a:blipFill>
              <a:blip r:embed="rId2"/>
              <a:stretch>
                <a:fillRect l="0" t="-254" r="0" b="-254"/>
              </a:stretch>
            </a:blipFill>
          </p:spPr>
        </p:sp>
      </p:grpSp>
      <p:sp>
        <p:nvSpPr>
          <p:cNvPr name="TextBox 13" id="13"/>
          <p:cNvSpPr txBox="true"/>
          <p:nvPr/>
        </p:nvSpPr>
        <p:spPr>
          <a:xfrm rot="0">
            <a:off x="16028080" y="8845587"/>
            <a:ext cx="1231220" cy="412795"/>
          </a:xfrm>
          <a:prstGeom prst="rect">
            <a:avLst/>
          </a:prstGeom>
        </p:spPr>
        <p:txBody>
          <a:bodyPr anchor="t" rtlCol="false" tIns="0" lIns="0" bIns="0" rIns="0">
            <a:spAutoFit/>
          </a:bodyPr>
          <a:lstStyle/>
          <a:p>
            <a:pPr algn="r" marL="0" indent="0" lvl="0">
              <a:lnSpc>
                <a:spcPts val="3497"/>
              </a:lnSpc>
            </a:pPr>
            <a:r>
              <a:rPr lang="en-US" b="true" sz="2498">
                <a:solidFill>
                  <a:srgbClr val="F8FAFC"/>
                </a:solidFill>
                <a:latin typeface="Inter Bold"/>
                <a:ea typeface="Inter Bold"/>
                <a:cs typeface="Inter Bold"/>
                <a:sym typeface="Inter Bold"/>
              </a:rPr>
              <a:t>05/</a:t>
            </a:r>
          </a:p>
        </p:txBody>
      </p:sp>
      <p:sp>
        <p:nvSpPr>
          <p:cNvPr name="TextBox 14" id="14"/>
          <p:cNvSpPr txBox="true"/>
          <p:nvPr/>
        </p:nvSpPr>
        <p:spPr>
          <a:xfrm rot="0">
            <a:off x="7763798" y="1200150"/>
            <a:ext cx="6497132" cy="1737123"/>
          </a:xfrm>
          <a:prstGeom prst="rect">
            <a:avLst/>
          </a:prstGeom>
        </p:spPr>
        <p:txBody>
          <a:bodyPr anchor="t" rtlCol="false" tIns="0" lIns="0" bIns="0" rIns="0">
            <a:spAutoFit/>
          </a:bodyPr>
          <a:lstStyle/>
          <a:p>
            <a:pPr algn="l" marL="0" indent="0" lvl="0">
              <a:lnSpc>
                <a:spcPts val="6609"/>
              </a:lnSpc>
            </a:pPr>
            <a:r>
              <a:rPr lang="en-US" b="true" sz="7031">
                <a:solidFill>
                  <a:srgbClr val="1F3A5F"/>
                </a:solidFill>
                <a:latin typeface="Montserrat Bold"/>
                <a:ea typeface="Montserrat Bold"/>
                <a:cs typeface="Montserrat Bold"/>
                <a:sym typeface="Montserrat Bold"/>
              </a:rPr>
              <a:t>Dashboard</a:t>
            </a:r>
          </a:p>
          <a:p>
            <a:pPr algn="l" marL="0" indent="0" lvl="0">
              <a:lnSpc>
                <a:spcPts val="6609"/>
              </a:lnSpc>
            </a:pPr>
            <a:r>
              <a:rPr lang="en-US" b="true" sz="7031">
                <a:solidFill>
                  <a:srgbClr val="1F3A5F"/>
                </a:solidFill>
                <a:latin typeface="Montserrat Bold"/>
                <a:ea typeface="Montserrat Bold"/>
                <a:cs typeface="Montserrat Bold"/>
                <a:sym typeface="Montserrat Bold"/>
              </a:rPr>
              <a:t>Visualizations</a:t>
            </a:r>
          </a:p>
        </p:txBody>
      </p:sp>
      <p:sp>
        <p:nvSpPr>
          <p:cNvPr name="TextBox 15" id="15"/>
          <p:cNvSpPr txBox="true"/>
          <p:nvPr/>
        </p:nvSpPr>
        <p:spPr>
          <a:xfrm rot="0">
            <a:off x="7454236" y="5216157"/>
            <a:ext cx="7232383" cy="4676785"/>
          </a:xfrm>
          <a:prstGeom prst="rect">
            <a:avLst/>
          </a:prstGeom>
        </p:spPr>
        <p:txBody>
          <a:bodyPr anchor="t" rtlCol="false" tIns="0" lIns="0" bIns="0" rIns="0">
            <a:spAutoFit/>
          </a:bodyPr>
          <a:lstStyle/>
          <a:p>
            <a:pPr algn="l" marL="0" indent="0" lvl="0">
              <a:lnSpc>
                <a:spcPts val="3149"/>
              </a:lnSpc>
            </a:pPr>
            <a:r>
              <a:rPr lang="en-US" sz="2249">
                <a:solidFill>
                  <a:srgbClr val="282828"/>
                </a:solidFill>
                <a:latin typeface="Inter"/>
                <a:ea typeface="Inter"/>
                <a:cs typeface="Inter"/>
                <a:sym typeface="Inter"/>
              </a:rPr>
              <a:t>The interactive Power BI dashboard presents key business insights through multiple visualizations:</a:t>
            </a:r>
          </a:p>
          <a:p>
            <a:pPr algn="l" marL="0" indent="0" lvl="0">
              <a:lnSpc>
                <a:spcPts val="3149"/>
              </a:lnSpc>
            </a:pPr>
            <a:r>
              <a:rPr lang="en-US" sz="2249">
                <a:solidFill>
                  <a:srgbClr val="282828"/>
                </a:solidFill>
                <a:latin typeface="Inter"/>
                <a:ea typeface="Inter"/>
                <a:cs typeface="Inter"/>
                <a:sym typeface="Inter"/>
              </a:rPr>
              <a:t>• Sales Trend Over Time — shows how sales change over time.</a:t>
            </a:r>
          </a:p>
          <a:p>
            <a:pPr algn="l" marL="0" indent="0" lvl="0">
              <a:lnSpc>
                <a:spcPts val="3149"/>
              </a:lnSpc>
            </a:pPr>
            <a:r>
              <a:rPr lang="en-US" sz="2249">
                <a:solidFill>
                  <a:srgbClr val="282828"/>
                </a:solidFill>
                <a:latin typeface="Inter"/>
                <a:ea typeface="Inter"/>
                <a:cs typeface="Inter"/>
                <a:sym typeface="Inter"/>
              </a:rPr>
              <a:t>• Sales by Category — compares sales across product categories.</a:t>
            </a:r>
          </a:p>
          <a:p>
            <a:pPr algn="l" marL="0" indent="0" lvl="0">
              <a:lnSpc>
                <a:spcPts val="3149"/>
              </a:lnSpc>
            </a:pPr>
            <a:r>
              <a:rPr lang="en-US" sz="2249">
                <a:solidFill>
                  <a:srgbClr val="282828"/>
                </a:solidFill>
                <a:latin typeface="Inter"/>
                <a:ea typeface="Inter"/>
                <a:cs typeface="Inter"/>
                <a:sym typeface="Inter"/>
              </a:rPr>
              <a:t>• Profit by Region — compares profitability across regions.</a:t>
            </a:r>
          </a:p>
          <a:p>
            <a:pPr algn="l" marL="0" indent="0" lvl="0">
              <a:lnSpc>
                <a:spcPts val="3149"/>
              </a:lnSpc>
            </a:pPr>
            <a:r>
              <a:rPr lang="en-US" sz="2249">
                <a:solidFill>
                  <a:srgbClr val="282828"/>
                </a:solidFill>
                <a:latin typeface="Inter"/>
                <a:ea typeface="Inter"/>
                <a:cs typeface="Inter"/>
                <a:sym typeface="Inter"/>
              </a:rPr>
              <a:t>• Sales by Sub-Category — identifies sub-categories with higher sales.</a:t>
            </a:r>
          </a:p>
          <a:p>
            <a:pPr algn="l" marL="0" indent="0" lvl="0">
              <a:lnSpc>
                <a:spcPts val="3149"/>
              </a:lnSpc>
            </a:pPr>
            <a:r>
              <a:rPr lang="en-US" sz="2249">
                <a:solidFill>
                  <a:srgbClr val="282828"/>
                </a:solidFill>
                <a:latin typeface="Inter"/>
                <a:ea typeface="Inter"/>
                <a:cs typeface="Inter"/>
                <a:sym typeface="Inter"/>
              </a:rPr>
              <a:t>• Interactive Slicers — Year, Region, Category, and Segment allow users to filter the dashboard.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5641897" cy="10287000"/>
            <a:chOff x="0" y="0"/>
            <a:chExt cx="4119676" cy="2709333"/>
          </a:xfrm>
        </p:grpSpPr>
        <p:sp>
          <p:nvSpPr>
            <p:cNvPr name="Freeform 3" id="3"/>
            <p:cNvSpPr/>
            <p:nvPr/>
          </p:nvSpPr>
          <p:spPr>
            <a:xfrm flipH="false" flipV="false" rot="0">
              <a:off x="0" y="0"/>
              <a:ext cx="4119676" cy="2709333"/>
            </a:xfrm>
            <a:custGeom>
              <a:avLst/>
              <a:gdLst/>
              <a:ahLst/>
              <a:cxnLst/>
              <a:rect r="r" b="b" t="t" l="l"/>
              <a:pathLst>
                <a:path h="2709333" w="4119676">
                  <a:moveTo>
                    <a:pt x="0" y="0"/>
                  </a:moveTo>
                  <a:lnTo>
                    <a:pt x="4119676" y="0"/>
                  </a:lnTo>
                  <a:lnTo>
                    <a:pt x="4119676" y="2709333"/>
                  </a:lnTo>
                  <a:lnTo>
                    <a:pt x="0" y="2709333"/>
                  </a:lnTo>
                  <a:close/>
                </a:path>
              </a:pathLst>
            </a:custGeom>
            <a:solidFill>
              <a:srgbClr val="3B82F6"/>
            </a:solidFill>
          </p:spPr>
        </p:sp>
        <p:sp>
          <p:nvSpPr>
            <p:cNvPr name="TextBox 4" id="4"/>
            <p:cNvSpPr txBox="true"/>
            <p:nvPr/>
          </p:nvSpPr>
          <p:spPr>
            <a:xfrm>
              <a:off x="0" y="-38100"/>
              <a:ext cx="4119676"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0" y="0"/>
            <a:ext cx="348076" cy="10287000"/>
            <a:chOff x="0" y="0"/>
            <a:chExt cx="91674" cy="2709333"/>
          </a:xfrm>
        </p:grpSpPr>
        <p:sp>
          <p:nvSpPr>
            <p:cNvPr name="Freeform 6" id="6"/>
            <p:cNvSpPr/>
            <p:nvPr/>
          </p:nvSpPr>
          <p:spPr>
            <a:xfrm flipH="false" flipV="false" rot="0">
              <a:off x="0" y="0"/>
              <a:ext cx="91674" cy="2709333"/>
            </a:xfrm>
            <a:custGeom>
              <a:avLst/>
              <a:gdLst/>
              <a:ahLst/>
              <a:cxnLst/>
              <a:rect r="r" b="b" t="t" l="l"/>
              <a:pathLst>
                <a:path h="2709333" w="91674">
                  <a:moveTo>
                    <a:pt x="0" y="0"/>
                  </a:moveTo>
                  <a:lnTo>
                    <a:pt x="91674" y="0"/>
                  </a:lnTo>
                  <a:lnTo>
                    <a:pt x="91674" y="2709333"/>
                  </a:lnTo>
                  <a:lnTo>
                    <a:pt x="0" y="2709333"/>
                  </a:lnTo>
                  <a:close/>
                </a:path>
              </a:pathLst>
            </a:custGeom>
            <a:solidFill>
              <a:srgbClr val="1F3A5F"/>
            </a:solidFill>
          </p:spPr>
        </p:sp>
        <p:sp>
          <p:nvSpPr>
            <p:cNvPr name="TextBox 7" id="7"/>
            <p:cNvSpPr txBox="true"/>
            <p:nvPr/>
          </p:nvSpPr>
          <p:spPr>
            <a:xfrm>
              <a:off x="0" y="-38100"/>
              <a:ext cx="91674" cy="27474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5400000">
            <a:off x="55587" y="4849218"/>
            <a:ext cx="1154493" cy="5885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1F3A5F"/>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5400000">
            <a:off x="14770368" y="4969500"/>
            <a:ext cx="1154493" cy="588565"/>
            <a:chOff x="0" y="0"/>
            <a:chExt cx="647700" cy="330200"/>
          </a:xfrm>
        </p:grpSpPr>
        <p:sp>
          <p:nvSpPr>
            <p:cNvPr name="Freeform 12" id="12"/>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F8FAFC"/>
            </a:solidFill>
          </p:spPr>
        </p:sp>
        <p:sp>
          <p:nvSpPr>
            <p:cNvPr name="TextBox 13" id="13"/>
            <p:cNvSpPr txBox="true"/>
            <p:nvPr/>
          </p:nvSpPr>
          <p:spPr>
            <a:xfrm>
              <a:off x="152400" y="12700"/>
              <a:ext cx="342900" cy="317500"/>
            </a:xfrm>
            <a:prstGeom prst="rect">
              <a:avLst/>
            </a:prstGeom>
          </p:spPr>
          <p:txBody>
            <a:bodyPr anchor="ctr" rtlCol="false" tIns="50800" lIns="50800" bIns="50800" rIns="50800"/>
            <a:lstStyle/>
            <a:p>
              <a:pPr algn="ctr" marL="0" indent="0" lvl="0">
                <a:lnSpc>
                  <a:spcPts val="2659"/>
                </a:lnSpc>
              </a:pPr>
            </a:p>
          </p:txBody>
        </p:sp>
      </p:grpSp>
      <p:sp>
        <p:nvSpPr>
          <p:cNvPr name="Freeform 14" id="14"/>
          <p:cNvSpPr/>
          <p:nvPr/>
        </p:nvSpPr>
        <p:spPr>
          <a:xfrm flipH="false" flipV="false" rot="0">
            <a:off x="2144410" y="914800"/>
            <a:ext cx="1041753" cy="710286"/>
          </a:xfrm>
          <a:custGeom>
            <a:avLst/>
            <a:gdLst/>
            <a:ahLst/>
            <a:cxnLst/>
            <a:rect r="r" b="b" t="t" l="l"/>
            <a:pathLst>
              <a:path h="710286" w="1041753">
                <a:moveTo>
                  <a:pt x="0" y="0"/>
                </a:moveTo>
                <a:lnTo>
                  <a:pt x="1041752" y="0"/>
                </a:lnTo>
                <a:lnTo>
                  <a:pt x="1041752" y="710286"/>
                </a:lnTo>
                <a:lnTo>
                  <a:pt x="0" y="710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2144410" y="2258155"/>
            <a:ext cx="7607048" cy="1385124"/>
          </a:xfrm>
          <a:prstGeom prst="rect">
            <a:avLst/>
          </a:prstGeom>
        </p:spPr>
        <p:txBody>
          <a:bodyPr anchor="t" rtlCol="false" tIns="0" lIns="0" bIns="0" rIns="0">
            <a:spAutoFit/>
          </a:bodyPr>
          <a:lstStyle/>
          <a:p>
            <a:pPr algn="l" marL="0" indent="0" lvl="0">
              <a:lnSpc>
                <a:spcPts val="11329"/>
              </a:lnSpc>
            </a:pPr>
            <a:r>
              <a:rPr lang="en-US" b="true" sz="8092">
                <a:solidFill>
                  <a:srgbClr val="F8FAFC"/>
                </a:solidFill>
                <a:latin typeface="Montserrat Bold"/>
                <a:ea typeface="Montserrat Bold"/>
                <a:cs typeface="Montserrat Bold"/>
                <a:sym typeface="Montserrat Bold"/>
              </a:rPr>
              <a:t>Conclusion</a:t>
            </a:r>
          </a:p>
        </p:txBody>
      </p:sp>
      <p:sp>
        <p:nvSpPr>
          <p:cNvPr name="TextBox 16" id="16"/>
          <p:cNvSpPr txBox="true"/>
          <p:nvPr/>
        </p:nvSpPr>
        <p:spPr>
          <a:xfrm rot="0">
            <a:off x="2257221" y="8845587"/>
            <a:ext cx="2201309" cy="355426"/>
          </a:xfrm>
          <a:prstGeom prst="rect">
            <a:avLst/>
          </a:prstGeom>
        </p:spPr>
        <p:txBody>
          <a:bodyPr anchor="t" rtlCol="false" tIns="0" lIns="0" bIns="0" rIns="0">
            <a:spAutoFit/>
          </a:bodyPr>
          <a:lstStyle/>
          <a:p>
            <a:pPr algn="l" marL="0" indent="0" lvl="0">
              <a:lnSpc>
                <a:spcPts val="2984"/>
              </a:lnSpc>
              <a:spcBef>
                <a:spcPct val="0"/>
              </a:spcBef>
            </a:pPr>
            <a:r>
              <a:rPr lang="en-US" sz="2131">
                <a:solidFill>
                  <a:srgbClr val="F8FAFC"/>
                </a:solidFill>
                <a:latin typeface="Inter"/>
                <a:ea typeface="Inter"/>
                <a:cs typeface="Inter"/>
                <a:sym typeface="Inter"/>
              </a:rPr>
              <a:t>Presented by:</a:t>
            </a:r>
          </a:p>
        </p:txBody>
      </p:sp>
      <p:sp>
        <p:nvSpPr>
          <p:cNvPr name="TextBox 17" id="17"/>
          <p:cNvSpPr txBox="true"/>
          <p:nvPr/>
        </p:nvSpPr>
        <p:spPr>
          <a:xfrm rot="0">
            <a:off x="2257221" y="6797267"/>
            <a:ext cx="6810863" cy="355426"/>
          </a:xfrm>
          <a:prstGeom prst="rect">
            <a:avLst/>
          </a:prstGeom>
        </p:spPr>
        <p:txBody>
          <a:bodyPr anchor="t" rtlCol="false" tIns="0" lIns="0" bIns="0" rIns="0">
            <a:spAutoFit/>
          </a:bodyPr>
          <a:lstStyle/>
          <a:p>
            <a:pPr algn="l" marL="0" indent="0" lvl="0">
              <a:lnSpc>
                <a:spcPts val="2984"/>
              </a:lnSpc>
              <a:spcBef>
                <a:spcPct val="0"/>
              </a:spcBef>
            </a:pPr>
            <a:r>
              <a:rPr lang="en-US" sz="2131">
                <a:solidFill>
                  <a:srgbClr val="F8FAFC"/>
                </a:solidFill>
                <a:latin typeface="Inter"/>
                <a:ea typeface="Inter"/>
                <a:cs typeface="Inter"/>
                <a:sym typeface="Inter"/>
              </a:rPr>
              <a:t>Sales &amp; Financial Performance Dashboard — Power BI</a:t>
            </a:r>
          </a:p>
        </p:txBody>
      </p:sp>
      <p:sp>
        <p:nvSpPr>
          <p:cNvPr name="TextBox 18" id="18"/>
          <p:cNvSpPr txBox="true"/>
          <p:nvPr/>
        </p:nvSpPr>
        <p:spPr>
          <a:xfrm rot="0">
            <a:off x="4048021" y="8882300"/>
            <a:ext cx="3229263" cy="315020"/>
          </a:xfrm>
          <a:prstGeom prst="rect">
            <a:avLst/>
          </a:prstGeom>
        </p:spPr>
        <p:txBody>
          <a:bodyPr anchor="t" rtlCol="false" tIns="0" lIns="0" bIns="0" rIns="0">
            <a:spAutoFit/>
          </a:bodyPr>
          <a:lstStyle/>
          <a:p>
            <a:pPr algn="l" marL="0" indent="0" lvl="0">
              <a:lnSpc>
                <a:spcPts val="2586"/>
              </a:lnSpc>
            </a:pPr>
            <a:r>
              <a:rPr lang="en-US" b="true" sz="1847">
                <a:solidFill>
                  <a:srgbClr val="F8FAFC"/>
                </a:solidFill>
                <a:latin typeface="Inter Bold"/>
                <a:ea typeface="Inter Bold"/>
                <a:cs typeface="Inter Bold"/>
                <a:sym typeface="Inter Bold"/>
              </a:rPr>
              <a:t>Iram Qureshi</a:t>
            </a:r>
          </a:p>
        </p:txBody>
      </p:sp>
      <p:sp>
        <p:nvSpPr>
          <p:cNvPr name="TextBox 19" id="19"/>
          <p:cNvSpPr txBox="true"/>
          <p:nvPr/>
        </p:nvSpPr>
        <p:spPr>
          <a:xfrm rot="0">
            <a:off x="3433792" y="1202848"/>
            <a:ext cx="3229263" cy="291525"/>
          </a:xfrm>
          <a:prstGeom prst="rect">
            <a:avLst/>
          </a:prstGeom>
        </p:spPr>
        <p:txBody>
          <a:bodyPr anchor="t" rtlCol="false" tIns="0" lIns="0" bIns="0" rIns="0">
            <a:spAutoFit/>
          </a:bodyPr>
          <a:lstStyle/>
          <a:p>
            <a:pPr algn="l" marL="0" indent="0" lvl="0">
              <a:lnSpc>
                <a:spcPts val="2306"/>
              </a:lnSpc>
            </a:pPr>
            <a:r>
              <a:rPr lang="en-US" b="true" sz="1647">
                <a:solidFill>
                  <a:srgbClr val="F8FAFC"/>
                </a:solidFill>
                <a:latin typeface="Inter Bold"/>
                <a:ea typeface="Inter Bold"/>
                <a:cs typeface="Inter Bold"/>
                <a:sym typeface="Inter Bold"/>
              </a:rPr>
              <a:t>Data Analytics Internship</a:t>
            </a:r>
          </a:p>
        </p:txBody>
      </p:sp>
      <p:sp>
        <p:nvSpPr>
          <p:cNvPr name="TextBox 20" id="20"/>
          <p:cNvSpPr txBox="true"/>
          <p:nvPr/>
        </p:nvSpPr>
        <p:spPr>
          <a:xfrm rot="0">
            <a:off x="16028080" y="8836062"/>
            <a:ext cx="1231220" cy="291525"/>
          </a:xfrm>
          <a:prstGeom prst="rect">
            <a:avLst/>
          </a:prstGeom>
        </p:spPr>
        <p:txBody>
          <a:bodyPr anchor="t" rtlCol="false" tIns="0" lIns="0" bIns="0" rIns="0">
            <a:spAutoFit/>
          </a:bodyPr>
          <a:lstStyle/>
          <a:p>
            <a:pPr algn="r" marL="0" indent="0" lvl="0">
              <a:lnSpc>
                <a:spcPts val="2306"/>
              </a:lnSpc>
            </a:pPr>
            <a:r>
              <a:rPr lang="en-US" b="true" sz="1647">
                <a:solidFill>
                  <a:srgbClr val="282828"/>
                </a:solidFill>
                <a:latin typeface="Inter Bold"/>
                <a:ea typeface="Inter Bold"/>
                <a:cs typeface="Inter Bold"/>
                <a:sym typeface="Inter Bold"/>
              </a:rPr>
              <a:t>6/</a:t>
            </a:r>
          </a:p>
        </p:txBody>
      </p:sp>
      <p:sp>
        <p:nvSpPr>
          <p:cNvPr name="TextBox 21" id="21"/>
          <p:cNvSpPr txBox="true"/>
          <p:nvPr/>
        </p:nvSpPr>
        <p:spPr>
          <a:xfrm rot="0">
            <a:off x="1903257" y="3829603"/>
            <a:ext cx="10369405" cy="1958004"/>
          </a:xfrm>
          <a:prstGeom prst="rect">
            <a:avLst/>
          </a:prstGeom>
        </p:spPr>
        <p:txBody>
          <a:bodyPr anchor="t" rtlCol="false" tIns="0" lIns="0" bIns="0" rIns="0">
            <a:spAutoFit/>
          </a:bodyPr>
          <a:lstStyle/>
          <a:p>
            <a:pPr algn="ctr">
              <a:lnSpc>
                <a:spcPts val="3113"/>
              </a:lnSpc>
              <a:spcBef>
                <a:spcPct val="0"/>
              </a:spcBef>
            </a:pPr>
            <a:r>
              <a:rPr lang="en-US" sz="2223">
                <a:solidFill>
                  <a:srgbClr val="F8FAFC"/>
                </a:solidFill>
                <a:latin typeface="Canva Sans"/>
                <a:ea typeface="Canva Sans"/>
                <a:cs typeface="Canva Sans"/>
                <a:sym typeface="Canva Sans"/>
              </a:rPr>
              <a:t>The Power BI dashboard provides a clear view </a:t>
            </a:r>
            <a:r>
              <a:rPr lang="en-US" sz="2223">
                <a:solidFill>
                  <a:srgbClr val="F8FAFC"/>
                </a:solidFill>
                <a:latin typeface="Canva Sans"/>
                <a:ea typeface="Canva Sans"/>
                <a:cs typeface="Canva Sans"/>
                <a:sym typeface="Canva Sans"/>
              </a:rPr>
              <a:t>of overall sales and financial performance. KPI cards summarize important business metrics, while charts help identify trends and compare performance across categories, regions, and sub-categories. Interactive slicers allow stakeholders to explore the data from different perspectives and support data-driven decision-making.</a:t>
            </a:r>
          </a:p>
        </p:txBody>
      </p:sp>
      <p:sp>
        <p:nvSpPr>
          <p:cNvPr name="TextBox 22" id="22"/>
          <p:cNvSpPr txBox="true"/>
          <p:nvPr/>
        </p:nvSpPr>
        <p:spPr>
          <a:xfrm rot="0">
            <a:off x="13668635" y="9453749"/>
            <a:ext cx="1384697"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THANK YOU</a:t>
            </a:r>
          </a:p>
        </p:txBody>
      </p:sp>
      <p:sp>
        <p:nvSpPr>
          <p:cNvPr name="TextBox 23" id="23"/>
          <p:cNvSpPr txBox="true"/>
          <p:nvPr/>
        </p:nvSpPr>
        <p:spPr>
          <a:xfrm rot="0">
            <a:off x="10615991" y="8037897"/>
            <a:ext cx="4437340" cy="6565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To</a:t>
            </a:r>
            <a:r>
              <a:rPr lang="en-US" sz="1899">
                <a:solidFill>
                  <a:srgbClr val="000000"/>
                </a:solidFill>
                <a:latin typeface="Canva Sans"/>
                <a:ea typeface="Canva Sans"/>
                <a:cs typeface="Canva Sans"/>
                <a:sym typeface="Canva Sans"/>
              </a:rPr>
              <a:t>ols Used: Microsoft Power BI, Canva</a:t>
            </a:r>
          </a:p>
          <a:p>
            <a:pPr algn="ctr">
              <a:lnSpc>
                <a:spcPts val="2659"/>
              </a:lnSpc>
              <a:spcBef>
                <a:spcPct val="0"/>
              </a:spcBef>
            </a:pPr>
            <a:r>
              <a:rPr lang="en-US" sz="1899">
                <a:solidFill>
                  <a:srgbClr val="000000"/>
                </a:solidFill>
                <a:latin typeface="Canva Sans"/>
                <a:ea typeface="Canva Sans"/>
                <a:cs typeface="Canva Sans"/>
                <a:sym typeface="Canva Sans"/>
              </a:rPr>
              <a:t>Dataset: Superstore Sales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DAHUQpcXVh4</dc:identifier>
  <dcterms:modified xsi:type="dcterms:W3CDTF">2011-08-01T06:04:30Z</dcterms:modified>
  <cp:revision>1</cp:revision>
  <dc:title>Data Analytics Internship Project | Elevate Labs</dc:title>
</cp:coreProperties>
</file>